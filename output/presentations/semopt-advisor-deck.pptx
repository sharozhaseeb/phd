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cd29c83e1344812" /><Relationship Type="http://schemas.openxmlformats.org/officeDocument/2006/relationships/extended-properties" Target="/docProps/app.xml" Id="R604f39798b0345f4" /><Relationship Type="http://schemas.openxmlformats.org/officeDocument/2006/relationships/officeDocument" Target="/ppt/presentation.xml" Id="R0d59c48afced4c5c" /></Relationships>
</file>

<file path=ppt/presentation.xml><?xml version="1.0" encoding="utf-8"?>
<p:presentation xmlns:p="http://schemas.openxmlformats.org/presentationml/2006/main">
  <p:sldMasterIdLst>
    <p:sldMasterId xmlns:r="http://schemas.openxmlformats.org/officeDocument/2006/relationships" id="2147483648" r:id="Rfb48e21979d044ab"/>
  </p:sldMasterIdLst>
  <p:notesMasterIdLst>
    <p:notesMasterId xmlns:r="http://schemas.openxmlformats.org/officeDocument/2006/relationships" r:id="Rdd6b7a0623404e89"/>
  </p:notesMasterIdLst>
  <p:sldIdLst>
    <p:sldId xmlns:r="http://schemas.openxmlformats.org/officeDocument/2006/relationships" id="256" r:id="R6fa1e50f8cdb464a"/>
    <p:sldId xmlns:r="http://schemas.openxmlformats.org/officeDocument/2006/relationships" id="257" r:id="R251972d5a20e4f02"/>
    <p:sldId xmlns:r="http://schemas.openxmlformats.org/officeDocument/2006/relationships" id="258" r:id="R7e3884e719b040f2"/>
    <p:sldId xmlns:r="http://schemas.openxmlformats.org/officeDocument/2006/relationships" id="259" r:id="Rd0b402b0a9c34a81"/>
    <p:sldId xmlns:r="http://schemas.openxmlformats.org/officeDocument/2006/relationships" id="260" r:id="R3be22563e544409c"/>
    <p:sldId xmlns:r="http://schemas.openxmlformats.org/officeDocument/2006/relationships" id="261" r:id="R387a2355580744c9"/>
    <p:sldId xmlns:r="http://schemas.openxmlformats.org/officeDocument/2006/relationships" id="262" r:id="R06117529c3b24bd3"/>
    <p:sldId xmlns:r="http://schemas.openxmlformats.org/officeDocument/2006/relationships" id="263" r:id="R8b30708019b74733"/>
    <p:sldId xmlns:r="http://schemas.openxmlformats.org/officeDocument/2006/relationships" id="264" r:id="R2f7aaeab3e3e4d59"/>
    <p:sldId xmlns:r="http://schemas.openxmlformats.org/officeDocument/2006/relationships" id="265" r:id="Rb4610dab2f2348b5"/>
    <p:sldId xmlns:r="http://schemas.openxmlformats.org/officeDocument/2006/relationships" id="266" r:id="R4fa215a4547a43a1"/>
    <p:sldId xmlns:r="http://schemas.openxmlformats.org/officeDocument/2006/relationships" id="267" r:id="R9ecd2addf27746cb"/>
    <p:sldId xmlns:r="http://schemas.openxmlformats.org/officeDocument/2006/relationships" id="268" r:id="Rb72e48ec84d141eb"/>
    <p:sldId xmlns:r="http://schemas.openxmlformats.org/officeDocument/2006/relationships" id="269" r:id="R0c836846df384863"/>
    <p:sldId xmlns:r="http://schemas.openxmlformats.org/officeDocument/2006/relationships" id="270" r:id="R09a3ceff7a9f4963"/>
    <p:sldId xmlns:r="http://schemas.openxmlformats.org/officeDocument/2006/relationships" id="271" r:id="R0adbd26218b24d1b"/>
    <p:sldId xmlns:r="http://schemas.openxmlformats.org/officeDocument/2006/relationships" id="272" r:id="Rc883bd95c9494613"/>
    <p:sldId xmlns:r="http://schemas.openxmlformats.org/officeDocument/2006/relationships" id="273" r:id="R0c001205ee4e4ba8"/>
    <p:sldId xmlns:r="http://schemas.openxmlformats.org/officeDocument/2006/relationships" id="274" r:id="R463dbf596ffd4c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509d1cdbbd479c" /><Relationship Type="http://schemas.openxmlformats.org/officeDocument/2006/relationships/slideMaster" Target="/ppt/slideMasters/slideMaster1.xml" Id="Rfb48e21979d044ab" /><Relationship Type="http://schemas.openxmlformats.org/officeDocument/2006/relationships/notesMaster" Target="/ppt/notesMasters/notesMaster1.xml" Id="Rdd6b7a0623404e89" /><Relationship Type="http://schemas.openxmlformats.org/officeDocument/2006/relationships/presProps" Target="/ppt/presProps.xml" Id="R3e31e9a3a73644f4" /><Relationship Type="http://schemas.openxmlformats.org/officeDocument/2006/relationships/tableStyles" Target="/ppt/tableStyles.xml" Id="Rd29757c1781c44b3" /><Relationship Type="http://schemas.openxmlformats.org/officeDocument/2006/relationships/slide" Target="/ppt/slides/slide1.xml" Id="R6fa1e50f8cdb464a" /><Relationship Type="http://schemas.openxmlformats.org/officeDocument/2006/relationships/slide" Target="/ppt/slides/slide2.xml" Id="R251972d5a20e4f02" /><Relationship Type="http://schemas.openxmlformats.org/officeDocument/2006/relationships/slide" Target="/ppt/slides/slide3.xml" Id="R7e3884e719b040f2" /><Relationship Type="http://schemas.openxmlformats.org/officeDocument/2006/relationships/slide" Target="/ppt/slides/slide4.xml" Id="Rd0b402b0a9c34a81" /><Relationship Type="http://schemas.openxmlformats.org/officeDocument/2006/relationships/slide" Target="/ppt/slides/slide5.xml" Id="R3be22563e544409c" /><Relationship Type="http://schemas.openxmlformats.org/officeDocument/2006/relationships/slide" Target="/ppt/slides/slide6.xml" Id="R387a2355580744c9" /><Relationship Type="http://schemas.openxmlformats.org/officeDocument/2006/relationships/slide" Target="/ppt/slides/slide7.xml" Id="R06117529c3b24bd3" /><Relationship Type="http://schemas.openxmlformats.org/officeDocument/2006/relationships/slide" Target="/ppt/slides/slide8.xml" Id="R8b30708019b74733" /><Relationship Type="http://schemas.openxmlformats.org/officeDocument/2006/relationships/slide" Target="/ppt/slides/slide9.xml" Id="R2f7aaeab3e3e4d59" /><Relationship Type="http://schemas.openxmlformats.org/officeDocument/2006/relationships/slide" Target="/ppt/slides/slide10.xml" Id="Rb4610dab2f2348b5" /><Relationship Type="http://schemas.openxmlformats.org/officeDocument/2006/relationships/slide" Target="/ppt/slides/slide11.xml" Id="R4fa215a4547a43a1" /><Relationship Type="http://schemas.openxmlformats.org/officeDocument/2006/relationships/slide" Target="/ppt/slides/slide12.xml" Id="R9ecd2addf27746cb" /><Relationship Type="http://schemas.openxmlformats.org/officeDocument/2006/relationships/slide" Target="/ppt/slides/slide13.xml" Id="Rb72e48ec84d141eb" /><Relationship Type="http://schemas.openxmlformats.org/officeDocument/2006/relationships/slide" Target="/ppt/slides/slide14.xml" Id="R0c836846df384863" /><Relationship Type="http://schemas.openxmlformats.org/officeDocument/2006/relationships/slide" Target="/ppt/slides/slide15.xml" Id="R09a3ceff7a9f4963" /><Relationship Type="http://schemas.openxmlformats.org/officeDocument/2006/relationships/slide" Target="/ppt/slides/slide16.xml" Id="R0adbd26218b24d1b" /><Relationship Type="http://schemas.openxmlformats.org/officeDocument/2006/relationships/slide" Target="/ppt/slides/slide17.xml" Id="Rc883bd95c9494613" /><Relationship Type="http://schemas.openxmlformats.org/officeDocument/2006/relationships/slide" Target="/ppt/slides/slide18.xml" Id="R0c001205ee4e4ba8" /><Relationship Type="http://schemas.openxmlformats.org/officeDocument/2006/relationships/slide" Target="/ppt/slides/slide19.xml" Id="R463dbf596ffd4c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9cb6ed5fab4b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cademic">
      <a:dk1>
        <a:srgbClr val="000000"/>
      </a:dk1>
      <a:lt1>
        <a:srgbClr val="FFFFFF"/>
      </a:lt1>
      <a:dk2>
        <a:srgbClr val="172B3A"/>
      </a:dk2>
      <a:lt2>
        <a:srgbClr val="F2F5F6"/>
      </a:lt2>
      <a:accent1>
        <a:srgbClr val="166B78"/>
      </a:accent1>
      <a:accent2>
        <a:srgbClr val="172B3A"/>
      </a:accent2>
      <a:accent3>
        <a:srgbClr val="9CA9B0"/>
      </a:accent3>
      <a:accent4>
        <a:srgbClr val="647A88"/>
      </a:accent4>
      <a:accent5>
        <a:srgbClr val="355769"/>
      </a:accent5>
      <a:accent6>
        <a:srgbClr val="74858E"/>
      </a:accent6>
      <a:hlink>
        <a:srgbClr val="166B78"/>
      </a:hlink>
      <a:folHlink>
        <a:srgbClr val="166B78"/>
      </a:folHlink>
    </a:clrScheme>
    <a:fontScheme name="Office">
      <a:majorFont>
        <a:latin typeface="Calibri Light"/>
        <a:ea typeface="Calibri Light"/>
        <a:cs typeface="Calibri Light"/>
      </a:majorFont>
      <a:minorFont>
        <a:latin typeface="Calibri"/>
        <a:ea typeface="Calibri"/>
        <a:cs typeface="Calibri"/>
      </a:minorFont>
    </a:fontScheme>
    <a:fmtScheme name="Academ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3c6a208e0b4e07" /><Relationship Type="http://schemas.openxmlformats.org/officeDocument/2006/relationships/notesMaster" Target="/ppt/notesMasters/notesMaster1.xml" Id="R0f6e6326cb9541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75815fd25340b1" /><Relationship Type="http://schemas.openxmlformats.org/officeDocument/2006/relationships/notesMaster" Target="/ppt/notesMasters/notesMaster1.xml" Id="Rd9c89289992548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4ce9db58414ede" /><Relationship Type="http://schemas.openxmlformats.org/officeDocument/2006/relationships/notesMaster" Target="/ppt/notesMasters/notesMaster1.xml" Id="R094240af3e2540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32ab4568ad4b7c" /><Relationship Type="http://schemas.openxmlformats.org/officeDocument/2006/relationships/notesMaster" Target="/ppt/notesMasters/notesMaster1.xml" Id="R3e5276ba5f2e46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67869eec5b4b2d" /><Relationship Type="http://schemas.openxmlformats.org/officeDocument/2006/relationships/notesMaster" Target="/ppt/notesMasters/notesMaster1.xml" Id="R03ce5999912e4d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1b298abf0a490a" /><Relationship Type="http://schemas.openxmlformats.org/officeDocument/2006/relationships/notesMaster" Target="/ppt/notesMasters/notesMaster1.xml" Id="R4b8332c253eb47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e311bc4ea749d6" /><Relationship Type="http://schemas.openxmlformats.org/officeDocument/2006/relationships/notesMaster" Target="/ppt/notesMasters/notesMaster1.xml" Id="R04d228a0f8ad47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23b44fa5ed4cfa" /><Relationship Type="http://schemas.openxmlformats.org/officeDocument/2006/relationships/notesMaster" Target="/ppt/notesMasters/notesMaster1.xml" Id="Ra49a35191ed44a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236f9eef9b46d7" /><Relationship Type="http://schemas.openxmlformats.org/officeDocument/2006/relationships/notesMaster" Target="/ppt/notesMasters/notesMaster1.xml" Id="Rbf864816726643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ef544078d140b4" /><Relationship Type="http://schemas.openxmlformats.org/officeDocument/2006/relationships/notesMaster" Target="/ppt/notesMasters/notesMaster1.xml" Id="R4c687285c8644a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f5a792cdab4fce" /><Relationship Type="http://schemas.openxmlformats.org/officeDocument/2006/relationships/notesMaster" Target="/ppt/notesMasters/notesMaster1.xml" Id="R17720ad63a924a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128939742943ba" /><Relationship Type="http://schemas.openxmlformats.org/officeDocument/2006/relationships/notesMaster" Target="/ppt/notesMasters/notesMaster1.xml" Id="Rc5623ec166b047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429293b958477d" /><Relationship Type="http://schemas.openxmlformats.org/officeDocument/2006/relationships/notesMaster" Target="/ppt/notesMasters/notesMaster1.xml" Id="R0e6c3c8d8e5543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c80351134544ee" /><Relationship Type="http://schemas.openxmlformats.org/officeDocument/2006/relationships/notesMaster" Target="/ppt/notesMasters/notesMaster1.xml" Id="R42c8af2f43334f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ef5d3e128d4b79" /><Relationship Type="http://schemas.openxmlformats.org/officeDocument/2006/relationships/notesMaster" Target="/ppt/notesMasters/notesMaster1.xml" Id="R37bcbabb75ad4e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a04d1df68443fe" /><Relationship Type="http://schemas.openxmlformats.org/officeDocument/2006/relationships/notesMaster" Target="/ppt/notesMasters/notesMaster1.xml" Id="R6cc3a2fdadc24e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a07bdb1c6c45e6" /><Relationship Type="http://schemas.openxmlformats.org/officeDocument/2006/relationships/notesMaster" Target="/ppt/notesMasters/notesMaster1.xml" Id="R0b534d67bf714e1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e4b84fa9684dce" /><Relationship Type="http://schemas.openxmlformats.org/officeDocument/2006/relationships/notesMaster" Target="/ppt/notesMasters/notesMaster1.xml" Id="R4f2d3ec3b49e4e7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90012b8d3d742e3" /><Relationship Type="http://schemas.openxmlformats.org/officeDocument/2006/relationships/notesMaster" Target="/ppt/notesMasters/notesMaster1.xml" Id="R601cb833fee84d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is a review of the SemOpt paper, followed by a proposed connection to our PhD. The paper combines generated static-analysis rules with LLM rewriting. The main talk contains slides 1-15, followed by backup material and references. Allow about 15-20 minutes, leaving the backup slides for questions. All reported results come from the authors. We have not replicated them.</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search problem: an optimizer must choose both a location and a suitable strategy. Similar syntax does not guarantee that an optimization transfers, while the same strategy can appear in different-looking code. The authors motivate SemOpt with a gap between generic prompting, retrieval of prior commits, and manually encoded static rules. These are motivations, not evidence that every alternative optimizer fails. SemOpt introduces a reusable way to find candidate locations and guide generation.</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pedagogical Python illustration of the condition-reordering strategy in the paper, not a reproduced benchmark result or an exact source listing. Because Python short-circuits an AND expression, moving a cheap false test first may avoid an expensive predicate. The functions here should return booleans. Correctness requires that changing or skipping the first call does not change observable side effects or exceptions. Workload benefit depends on how frequently the cheap condition is false. This example separates recognizing a plausible pattern from demonstrating a safe optimization.</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left to right through Figure 1. First, the library builder mines performance-related commits and clusters LLM summaries into strategies. Second, the rule generator produces executable Semgrep patterns associated with those strategies. Third, SemOpt scans a target function, ranks matched location-strategy proposals, and asks the LLM to rewrite it. The rules serve as locators; the LLM performs the final code modification. This separation is a key contribution because a locator can be useful even without being a fully precise transformation rule. The illustration is reproduced from the author manuscript, Figure 1, page 3.</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offline library construction filters historical commits to focus on performance changes within a single function. The LLM generates three strategy summaries for each retained commit; embeddings select a representative summary and DBSCAN groups similar strategies. Rule generation samples up to ten commits per cluster and makes five generation attempts per sampled commit. A repair loop tries to obtain a rule that executes successfully. Successful execution does not establish that all matches represent valid optimization opportunities. Table 2 supplies the final counts shown here. Avoid quoting the C/C++ rule-success percentage because the displayed counts and percentage do not reconcile exactly. The offline cost should be separated from subsequent per-function optimization cost.</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match carries both a code location and the strategy attached to the rule. SemOpt merges repeated matches of the same pair and ranks these proposals by the number of supporting rules, then keeps the top 25 per function. The final prompt includes the full function, the selected location, and the strategy. Multiple rules can improve coverage, and aggregation can improve ranking. The paper motivates those effects using assumptions about detector quality, independence, and error correlation. Independent generation calls do not guarantee independent errors. A large rule-support count is therefore evidence for ranking, not a calibrated probability that a generated patch is behaviorally safe or beneficial.</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this distinction before showing any result. The historical benchmark asks whether at least one output matches a developer reference, exactly or semantically. EM compares normalized code strings; SemEqv uses the authors' manual patch comparison. A different but valid optimization may fail those criteria. The project experiment instead executes unit and performance tests after modifying hotspot functions. It measures actual performance on selected project tests. The historical benchmark includes 151 C/C++ and 150 Python tasks; Python uses only DeepSeek-V3. C/C++ also includes GPT-4.1 and a 40-task Gemini subset. The diagnostic studies RQ2-RQ6 use C/C++ only. These populations and outcome definitions must not be mixed.</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reports SemEqv task counts using DeepSeek-V3. Direct prompting succeeds on 14 tasks, RAPGen on 15, BM25 RAG on 43, SemOpt on 69, and the union of SemOpt and RAG outputs on 85. A task succeeds if at least one candidate is manually judged semantically equivalent to the developer reference patch. Thus SemOpt achieves 46.00% compared with RAG's 28.67%, a calculated difference of 17.33 percentage points. This is not the percentage of safe candidates or a runtime speedup. SemOpt plus RAG combines outputs and uses additional candidate opportunities; the row does not demonstrate equal-budget superiority of a new integrated method. The baseline RAPGen is reimplemented and adapted for these languages.</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results test the mechanism, but they come from C/C++ rather than Python. Removing the strategy information reduces SemEqv successes to 41; removing location information reduces them to 51; the full system achieves 64. The ablation changes the prompt information and supports the usefulness of both components. In a separate experiment, removing same-repository history leaves SemOpt at 63 successes versus 64, while RAG drops from 36 to 10. This supports lower dependence on local repository examples in this setup. It does not eliminate possible LLM pretraining leakage or prove general superiority over all retrieval methods.</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averages and maxima across the selected performance tests after project optimization. The table includes all five Python projects so that the presentation does not rely only on the best Click result. Performance-test counts are 11 for Click, 8 for Flask, 8 for Jinja, 9 for Requests, and 4 for Scrapy. The paper normalizes runtime improvement using (old time minus new time) divided by new time. Therefore 100% improvement means twice the speed, equivalent to halving runtime. The Click maximum 479.90% corresponds to 5.799 times the speed on that test; it is not a reduction in runtime greater than 100%. These results do not directly establish production-wide latency benefits. The authors also report C/C++ gains and acceptance of proposed changes by Redis and spdlog at the paper's reporting time.</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important prior-art slide for our PhD discussion. In the project experiment, the original and candidate versions run unit tests and performance tests. Each version receives six performance runs; the first is discarded and the remaining five are averaged. A candidate must improve at least one test by more than 5%, with no more than 2% degradation on all remaining tests. For each function, the authors select the qualifying candidate with the greatest sum of per-test improvement percentages. If no candidate qualifies, they keep the original. They then combine selected edits across hotspot functions. The study reports all 9,483 Python candidates passing supplied tests, yet page 36 still requires human review. A new project that merely adds tests, repeats, or a regression threshold would overlap substantially with this work.</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paper credit before defining its limits. The architecture is concrete and supported by component removal and repository exclusion experiments. The separate project experiment adds evidence beyond matching historical edits. Limits include reference-patch bias, one Python model, and most diagnostic evidence coming from C/C++. Passing available tests and manual review are useful evidence but not universal semantic proofs. The measurement protocol does not describe an independent held-out workload audit or an error-controlled policy for repeated candidate selection. That absence is an observation about the reported protocol, not proof that SemOpt fails. Candidate budgets, API calls, tokens, and execution effort should be checked before interpreting effectiveness differences as cost-normalized gains. Potential pretraining contamination remains.</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begins our proposal, not a further reported SemOpt result. Ask how often acceptance decisions change when a candidate faces independent valid workloads and fresh measurements. A plausible hypothesis is that an edit can pass the selection suite but regress on a different workload or fail an omitted behavioral case. Repeated search may make selection bias more important, but this needs measurement. PIE already selects the fastest candidate passing its tests and discusses test-limited array-size optimizations. COFFE already generates stressful tests and varies input scale. SemOpt already measures project performance and rejects regressions. The research opportunity, if the pilot and wider literature support it, concerns the reliability and cost of the decision under these existing safeguards. We should not claim that this small paper set establishes novelty.</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 Shypula et al. Learning Performance-Improving Code Edits. ICLR, 2024. Published-version source: https://arxiv.org/pdf/2302.07867v5 (25 pages).</a:t>
            </a:r>
          </a:p>
          <a:p xmlns:a="http://schemas.openxmlformats.org/drawingml/2006/main">
            <a:r>
              <a:t>Y. Peng, J. Wan, X. Ren, T. Menzies, and M. R. Lyu. On the Time Efficiency of Code Generated and Optimized by Large Language Models. IEEE TSE, 2026. https://doi.org/10.1109/TSE.2026.3709872. Source: https://timm.fyi/26coffe.pdf (23 pages).</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a function-level feasibility study before a full project replication. Twenty to thirty functions across several repositories is a proposed operational starting point, not a powered sample or a publication claim. Save a fixed pool of candidates so all decision rules face the same proposals. Separate generation and tuning inputs, inputs used to decide acceptance, and a final independent audit. Compare the SemOpt-style observed-mean gate with the same gate given more fixed-budget measurements. A confidence-interval gate with an unresolved outcome is a further comparator to specify from established measurement literature, not itself a claimed invention. Include input-scale variation as existing COFFE-style practice. Audit accepted and rejected candidates. Define harmful approvals as audit-invalid or materially regressing edits among approved candidates, and missed benefits among rejected candidates. Keep unresolved cases separate. Report uncertainty at the function/repository level because candidate outputs from the same function are dependent. Add iterative search after the one-step measurements are credible.</a:t>
            </a:r>
          </a:p>
          <a:p xmlns:a="http://schemas.openxmlformats.org/drawingml/2006/main">
            <a:r>
              <a:t/>
            </a:r>
          </a:p>
          <a:p xmlns:a="http://schemas.openxmlformats.org/drawingml/2006/main">
            <a:r>
              <a:t>Outcome clarification: Distinguish behavioral/regression failures from accepted edits whose claimed improvement is not independently confirmed. An inconclusive confidence interval remains unresolved rather than proving that an approval was wrong. Report verified benefits separately from these categories.</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Y. Peng, J. Wan, X. Ren, T. Menzies, and M. R. Lyu. On the Time Efficiency of Code Generated and Optimized by Large Language Models. IEEE TSE, 2026. https://doi.org/10.1109/TSE.2026.3709872. Source: https://timm.fyi/26coffe.pdf (23 pages).</a:t>
            </a:r>
          </a:p>
          <a:p xmlns:a="http://schemas.openxmlformats.org/drawingml/2006/main">
            <a:r>
              <a:t>All page references use the downloaded source PDFs. Study-design choices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talk with a concrete research decision. SemOpt is a useful optimizer and an important acceptance baseline. The immediate proposal is to audit decisions before inventing another optimization or validation framework. Ask the advisor to agree on the initial task scope, the behavior/performance criteria, and the nearest comparison literature. The candidate pool should be inspectable, the audit should remain independent, and all costs should be recorded. If accepted candidates mostly survive the audit within measurement uncertainty, that is evidence against prioritizing the current gap. If failures are frequent and reproducible across tasks, we can investigate which decision rules reduce them at a practical cost. A one-step feasibility study can precede sequential edits and project-level interactions. The four remaining slides are backup material and references.</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Y. Peng, J. Wan, X. Ren, T. Menzies, and M. R. Lyu. On the Time Efficiency of Code Generated and Optimized by Large Language Models. IEEE TSE, 2026. https://doi.org/10.1109/TSE.2026.3709872. Source: https://timm.fyi/26coffe.pdf (23 pages).</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if the advisor asks what success means. EM is normalized code equality to the developer reference. SemEqv is manual equivalence of patches, counted as a task success if any candidate meets it. Applicability is a separate C/C++ manual assessment that allows a valid improvement different from the original patch. Test passing is specific to a supplied test suite. The performance metric combines throughput and runtime into speed improvement: for runtime, (old-new)/new; for throughput, (new-old)/old. A speed improvement of 479.90% gives a ratio of 1+4.799=5.799 and a runtime reduction of 1-1/5.799, approximately 82.76%. The distinction prevents a claim of a 479.90% time reduction. The 89.86% applicability figure and 9,483 Python test-passing candidates refer to different experiments.</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locator precision and recall measures concern detected code locations, not final candidate correctness. Raw rules produce many false matches, and top-25 ranking trades some recall for higher precision. The paper argues that combining independent detectors raises the chance of capturing a true opportunity, 1-product(1-p_i), and motivates voting/ranking through detector-quality assumptions. Shared prompts and models can correlate errors, so independent calls need not yield independent mistakes. A theoretical ratio involving false and true positive rates also does not directly give posterior correctness without considering base rates. These observations explain why locator support should not be used as a safety confidence score. Low locator precision by itself is not proof that the final LLM output is poor, since later filtering and generation change the population.</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for the novelty challenge. PIE already has paired edits, execution-based correctness, best-of-k selection, and a simulator for reproducible labels. Its published version used in this review evaluates C++, so a Python adaptation needs a version check. The COFFE journal extension evaluates Python under generated stressful tests and input-scale mutation. SemOpt already adds a project acceptance gate. These facts mean neither adding unit tests nor varying input sizes is enough for a new PhD contribution. Reproduction clarifications include a main-text repair budget of seven iterations versus three in the appendix; a pilot described as separate while the top-N table uses the main benchmark denominators; and project candidate totals above 25 per function, possibly reflecting repetitions. These are questions to resolve, not allegations of invalid results. Preserve repository revisions, artifact versions, model snapshots, prompts, and candidate/measurement budgets. A fixed candidate pool and separated audit workloads make the acceptance study easier to interpret.</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 Shypula et al. Learning Performance-Improving Code Edits. ICLR, 2024. Published-version source: https://arxiv.org/pdf/2302.07867v5 (25 pages).</a:t>
            </a:r>
          </a:p>
          <a:p xmlns:a="http://schemas.openxmlformats.org/drawingml/2006/main">
            <a:r>
              <a:t>Y. Peng, J. Wan, X. Ren, T. Menzies, and M. R. Lyu. On the Time Efficiency of Code Generated and Optimized by Large Language Models. IEEE TSE, 2026. https://doi.org/10.1109/TSE.2026.3709872. Source: https://timm.fyi/26coffe.pdf (23 pages).</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primary sources used for this presentation. SemOpt is the main paper; PIE and the COFFE journal article are used only to place the proposed acceptance study in context. Use the published DOI for SemOpt, rather than the placeholder in the manuscript citation block. The SemOpt replication package is available through the link shown, but this presentation does not claim to reproduce the experiments. The PDF slide deck contains visible page citations; the editable PowerPoint also contains these explanatory speaker notes.</a:t>
            </a:r>
          </a:p>
          <a:p xmlns:a="http://schemas.openxmlformats.org/drawingml/2006/main">
            <a:r>
              <a:t/>
            </a:r>
          </a:p>
          <a:p xmlns:a="http://schemas.openxmlformats.org/drawingml/2006/main">
            <a:r>
              <a:t>A. Shypula et al. Learning Performance-Improving Code Edits. ICLR, 2024. Published-version source: https://arxiv.org/pdf/2302.07867v5 (25 pages).</a:t>
            </a:r>
          </a:p>
          <a:p xmlns:a="http://schemas.openxmlformats.org/drawingml/2006/main">
            <a:r>
              <a:t>Y. Peng, J. Wan, X. Ren, T. Menzies, and M. R. Lyu. On the Time Efficiency of Code Generated and Optimized by Large Language Models. IEEE TSE, 2026. https://doi.org/10.1109/TSE.2026.3709872. Source: https://timm.fyi/26coffe.pdf (23 pages).</a:t>
            </a:r>
          </a:p>
          <a:p xmlns:a="http://schemas.openxmlformats.org/drawingml/2006/main">
            <a:r>
              <a:t>SemOpt replication package linked in the paper: https://figshare.com/s/0391db49a3620ed53a1f</a:t>
            </a:r>
          </a:p>
          <a:p xmlns:a="http://schemas.openxmlformats.org/drawingml/2006/main">
            <a:r>
              <a:t/>
            </a:r>
          </a:p>
          <a:p xmlns:a="http://schemas.openxmlformats.org/drawingml/2006/main">
            <a:r>
              <a:t>Sources</a:t>
            </a:r>
          </a:p>
          <a:p xmlns:a="http://schemas.openxmlformats.org/drawingml/2006/main">
            <a:r>
              <a:t>Y. Zhao, Y.-A. Xiao, Q. Xiao, Z. Zhang, and Y. Xiong. SemOpt: LLM-Driven Code Optimization via Rule-Based Analysis. ACM TOSEM, 2026. https://doi.org/10.1145/3820167. The 47-page author manuscript used here: https://xiongyingfei.github.io/papers/TOSEM26.pdf</a:t>
            </a:r>
          </a:p>
          <a:p xmlns:a="http://schemas.openxmlformats.org/drawingml/2006/main">
            <a:r>
              <a:t>All SemOpt page references use the downloaded 47-page author manuscript. All experimental results are author-reported.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164fc9b4a445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539b98467e4bea" /><Relationship Type="http://schemas.openxmlformats.org/officeDocument/2006/relationships/slideLayout" Target="/ppt/slideLayouts/slideLayout1.xml" Id="Rbf0e5f3596d445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0e5f3596d445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cademic">
      <a:dk1>
        <a:srgbClr val="000000"/>
      </a:dk1>
      <a:lt1>
        <a:srgbClr val="FFFFFF"/>
      </a:lt1>
      <a:dk2>
        <a:srgbClr val="172B3A"/>
      </a:dk2>
      <a:lt2>
        <a:srgbClr val="F2F5F6"/>
      </a:lt2>
      <a:accent1>
        <a:srgbClr val="166B78"/>
      </a:accent1>
      <a:accent2>
        <a:srgbClr val="172B3A"/>
      </a:accent2>
      <a:accent3>
        <a:srgbClr val="9CA9B0"/>
      </a:accent3>
      <a:accent4>
        <a:srgbClr val="647A88"/>
      </a:accent4>
      <a:accent5>
        <a:srgbClr val="355769"/>
      </a:accent5>
      <a:accent6>
        <a:srgbClr val="74858E"/>
      </a:accent6>
      <a:hlink>
        <a:srgbClr val="166B78"/>
      </a:hlink>
      <a:folHlink>
        <a:srgbClr val="166B78"/>
      </a:folHlink>
    </a:clrScheme>
    <a:fontScheme name="Office">
      <a:majorFont>
        <a:latin typeface="Calibri Light"/>
        <a:ea typeface="Calibri Light"/>
        <a:cs typeface="Calibri Light"/>
      </a:majorFont>
      <a:minorFont>
        <a:latin typeface="Calibri"/>
        <a:ea typeface="Calibri"/>
        <a:cs typeface="Calibri"/>
      </a:minorFont>
    </a:fontScheme>
    <a:fmtScheme name="Academ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3a24293af14eb3" /><Relationship Type="http://schemas.openxmlformats.org/officeDocument/2006/relationships/hyperlink" Target="https://doi.org/10.1145/3820167" TargetMode="External" Id="Rdf4ee59d17294628" /><Relationship Type="http://schemas.openxmlformats.org/officeDocument/2006/relationships/notesSlide" Target="/ppt/notesSlides/notesSlide1.xml" Id="Ra40be874f75948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897d902a2449f6" /><Relationship Type="http://schemas.openxmlformats.org/officeDocument/2006/relationships/notesSlide" Target="/ppt/notesSlides/notesSlide2.xml" Id="R979619e7221245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ba994c4311480c" /><Relationship Type="http://schemas.openxmlformats.org/officeDocument/2006/relationships/notesSlide" Target="/ppt/notesSlides/notesSlide3.xml" Id="Rd5e48d7681994a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4dd300c9b241ce" /><Relationship Type="http://schemas.openxmlformats.org/officeDocument/2006/relationships/image" Target="/ppt/media/image.png" Id="R175d6640167e4d8e" /><Relationship Type="http://schemas.openxmlformats.org/officeDocument/2006/relationships/notesSlide" Target="/ppt/notesSlides/notesSlide4.xml" Id="R5de6c2b9591648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3e7a5dcd734405" /><Relationship Type="http://schemas.openxmlformats.org/officeDocument/2006/relationships/notesSlide" Target="/ppt/notesSlides/notesSlide5.xml" Id="Rebc678178c0848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83fa5feb1d4b7b" /><Relationship Type="http://schemas.openxmlformats.org/officeDocument/2006/relationships/notesSlide" Target="/ppt/notesSlides/notesSlide6.xml" Id="Ra7c9c68ebb694a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8a4bbe5ee74570" /><Relationship Type="http://schemas.openxmlformats.org/officeDocument/2006/relationships/notesSlide" Target="/ppt/notesSlides/notesSlide7.xml" Id="Rb154e9ffa09b43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a58476b1044b12" /><Relationship Type="http://schemas.openxmlformats.org/officeDocument/2006/relationships/chart" Target="/ppt/slides/charts/chart1.xml" Id="R271feaba24834a5f" /><Relationship Type="http://schemas.openxmlformats.org/officeDocument/2006/relationships/notesSlide" Target="/ppt/notesSlides/notesSlide8.xml" Id="R4c49b5bc008642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c1184754a94bb5" /><Relationship Type="http://schemas.openxmlformats.org/officeDocument/2006/relationships/chart" Target="/ppt/slides/charts/chart2.xml" Id="R91158c9134984169" /><Relationship Type="http://schemas.openxmlformats.org/officeDocument/2006/relationships/notesSlide" Target="/ppt/notesSlides/notesSlide9.xml" Id="Rba4cb377e3764a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ee927284c74517" /><Relationship Type="http://schemas.openxmlformats.org/officeDocument/2006/relationships/notesSlide" Target="/ppt/notesSlides/notesSlide10.xml" Id="R9f157ebefa5046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f6711a0a37406a" /><Relationship Type="http://schemas.openxmlformats.org/officeDocument/2006/relationships/notesSlide" Target="/ppt/notesSlides/notesSlide11.xml" Id="R988157ecb8ef4c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68478f673c14ab7" /><Relationship Type="http://schemas.openxmlformats.org/officeDocument/2006/relationships/notesSlide" Target="/ppt/notesSlides/notesSlide12.xml" Id="R9ddaee5890a245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2b536c353f4efd" /><Relationship Type="http://schemas.openxmlformats.org/officeDocument/2006/relationships/notesSlide" Target="/ppt/notesSlides/notesSlide13.xml" Id="R4724fe6ca4374d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c0436bad1ab49d9" /><Relationship Type="http://schemas.openxmlformats.org/officeDocument/2006/relationships/notesSlide" Target="/ppt/notesSlides/notesSlide14.xml" Id="R117482af1a7f47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09832dcd03c4544" /><Relationship Type="http://schemas.openxmlformats.org/officeDocument/2006/relationships/notesSlide" Target="/ppt/notesSlides/notesSlide15.xml" Id="Rc6682ce7e98446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7753671c77b4506" /><Relationship Type="http://schemas.openxmlformats.org/officeDocument/2006/relationships/notesSlide" Target="/ppt/notesSlides/notesSlide16.xml" Id="R54e8c81d0c464b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7e0d5a160ef4fb3" /><Relationship Type="http://schemas.openxmlformats.org/officeDocument/2006/relationships/notesSlide" Target="/ppt/notesSlides/notesSlide17.xml" Id="R7c87de3b2ac14d4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36aa2fdf71c4a81" /><Relationship Type="http://schemas.openxmlformats.org/officeDocument/2006/relationships/notesSlide" Target="/ppt/notesSlides/notesSlide18.xml" Id="Re4aa552ec8234cf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16c52d372d74fcf" /><Relationship Type="http://schemas.openxmlformats.org/officeDocument/2006/relationships/hyperlink" Target="https://doi.org/10.1145/3820167" TargetMode="External" Id="R960e1e4ab4834ab4" /><Relationship Type="http://schemas.openxmlformats.org/officeDocument/2006/relationships/hyperlink" Target="https://arxiv.org/pdf/2302.07867v5" TargetMode="External" Id="R8b9b66391deb43f0" /><Relationship Type="http://schemas.openxmlformats.org/officeDocument/2006/relationships/hyperlink" Target="https://doi.org/10.1109/TSE.2026.3709872" TargetMode="External" Id="Rff5f0edc4c3e4956" /><Relationship Type="http://schemas.openxmlformats.org/officeDocument/2006/relationships/hyperlink" Target="https://figshare.com/s/0391db49a3620ed53a1f" TargetMode="External" Id="Re05bf10d5a1c4020" /><Relationship Type="http://schemas.openxmlformats.org/officeDocument/2006/relationships/notesSlide" Target="/ppt/notesSlides/notesSlide19.xml" Id="Rbe7e1838a4034e7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SemEqv successes</c:v>
          </c:tx>
          <c:spPr>
            <a:solidFill xmlns:a="http://schemas.openxmlformats.org/drawingml/2006/main">
              <a:srgbClr val="166B78"/>
            </a:solidFill>
          </c:spPr>
          <c:dPt>
            <c:idx val="0"/>
            <c:invertIfNegative val="0"/>
            <c:spPr>
              <a:solidFill xmlns:a="http://schemas.openxmlformats.org/drawingml/2006/main">
                <a:srgbClr val="9CA9B0"/>
              </a:solidFill>
            </c:spPr>
          </c:dPt>
          <c:dPt>
            <c:idx val="1"/>
            <c:invertIfNegative val="0"/>
            <c:spPr>
              <a:solidFill xmlns:a="http://schemas.openxmlformats.org/drawingml/2006/main">
                <a:srgbClr val="9CA9B0"/>
              </a:solidFill>
            </c:spPr>
          </c:dPt>
          <c:dPt>
            <c:idx val="2"/>
            <c:invertIfNegative val="0"/>
            <c:spPr>
              <a:solidFill xmlns:a="http://schemas.openxmlformats.org/drawingml/2006/main">
                <a:srgbClr val="6F8B96"/>
              </a:solidFill>
            </c:spPr>
          </c:dPt>
          <c:dPt>
            <c:idx val="3"/>
            <c:invertIfNegative val="0"/>
            <c:spPr>
              <a:solidFill xmlns:a="http://schemas.openxmlformats.org/drawingml/2006/main">
                <a:srgbClr val="166B78"/>
              </a:solidFill>
            </c:spPr>
          </c:dPt>
          <c:dPt>
            <c:idx val="4"/>
            <c:invertIfNegative val="0"/>
            <c:spPr>
              <a:solidFill xmlns:a="http://schemas.openxmlformats.org/drawingml/2006/main">
                <a:srgbClr val="244C62"/>
              </a:solidFill>
            </c:spPr>
          </c:dPt>
          <c:cat>
            <c:strRef>
              <c:f>'Chart Data'!$A$2:$A$6</c:f>
              <c:strCache>
                <c:ptCount val="5"/>
                <c:pt idx="0">
                  <c:v>Direct</c:v>
                </c:pt>
                <c:pt idx="1">
                  <c:v>RAPGen</c:v>
                </c:pt>
                <c:pt idx="2">
                  <c:v>RAG</c:v>
                </c:pt>
                <c:pt idx="3">
                  <c:v>SemOpt</c:v>
                </c:pt>
                <c:pt idx="4">
                  <c:v>SemOpt + RAG</c:v>
                </c:pt>
              </c:strCache>
            </c:strRef>
          </c:cat>
          <c:val>
            <c:numRef>
              <c:f>'Chart Data'!$B$2:$B$6</c:f>
              <c:numCache>
                <c:formatCode>0</c:formatCode>
                <c:ptCount val="5"/>
                <c:pt idx="0">
                  <c:v>14</c:v>
                </c:pt>
                <c:pt idx="1">
                  <c:v>15</c:v>
                </c:pt>
                <c:pt idx="2">
                  <c:v>43</c:v>
                </c:pt>
                <c:pt idx="3">
                  <c:v>69</c:v>
                </c:pt>
                <c:pt idx="4">
                  <c:v>85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26343D"/>
                </a:solidFill>
                <a:latin typeface="Arial"/>
                <a:ea typeface="Arial"/>
                <a:cs typeface="Arial"/>
              </a:defRPr>
            </a:pPr>
          </a:p>
        </c:txPr>
        <c:crossAx val="48672768"/>
      </c:catAx>
      <c:valAx>
        <c:axId val="48672768"/>
        <c:scaling>
          <c:orientation val="minMax"/>
          <c:max val="150"/>
          <c:min val="0"/>
        </c:scaling>
        <c:delete val="0"/>
        <c:axPos val="b"/>
        <c:majorGridlines>
          <c:spPr>
            <a:ln xmlns:a="http://schemas.openxmlformats.org/drawingml/2006/main" w="9525">
              <a:solidFill>
                <a:srgbClr val="DCE3E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3636C"/>
                </a:solidFill>
                <a:latin typeface="Arial"/>
                <a:ea typeface="Arial"/>
                <a:cs typeface="Arial"/>
              </a:defRPr>
            </a:pPr>
          </a:p>
        </c:txPr>
        <c:crossAx val="48650112"/>
        <c:crossBetween val="between"/>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SemEqv successes</c:v>
          </c:tx>
          <c:spPr>
            <a:solidFill xmlns:a="http://schemas.openxmlformats.org/drawingml/2006/main">
              <a:srgbClr val="166B78"/>
            </a:solidFill>
          </c:spPr>
          <c:dPt>
            <c:idx val="0"/>
            <c:invertIfNegative val="0"/>
            <c:spPr>
              <a:solidFill xmlns:a="http://schemas.openxmlformats.org/drawingml/2006/main">
                <a:srgbClr val="9CA9B0"/>
              </a:solidFill>
            </c:spPr>
          </c:dPt>
          <c:dPt>
            <c:idx val="1"/>
            <c:invertIfNegative val="0"/>
            <c:spPr>
              <a:solidFill xmlns:a="http://schemas.openxmlformats.org/drawingml/2006/main">
                <a:srgbClr val="6F8B96"/>
              </a:solidFill>
            </c:spPr>
          </c:dPt>
          <c:dPt>
            <c:idx val="2"/>
            <c:invertIfNegative val="0"/>
            <c:spPr>
              <a:solidFill xmlns:a="http://schemas.openxmlformats.org/drawingml/2006/main">
                <a:srgbClr val="166B78"/>
              </a:solidFill>
            </c:spPr>
          </c:dPt>
          <c:cat>
            <c:strRef>
              <c:f>'Chart Data'!$A$2:$A$4</c:f>
              <c:strCache>
                <c:ptCount val="3"/>
                <c:pt idx="0">
                  <c:v>Without strategy</c:v>
                </c:pt>
                <c:pt idx="1">
                  <c:v>Without location</c:v>
                </c:pt>
                <c:pt idx="2">
                  <c:v>Full SemOpt</c:v>
                </c:pt>
              </c:strCache>
            </c:strRef>
          </c:cat>
          <c:val>
            <c:numRef>
              <c:f>'Chart Data'!$B$2:$B$4</c:f>
              <c:numCache>
                <c:formatCode>0</c:formatCode>
                <c:ptCount val="3"/>
                <c:pt idx="0">
                  <c:v>41</c:v>
                </c:pt>
                <c:pt idx="1">
                  <c:v>51</c:v>
                </c:pt>
                <c:pt idx="2">
                  <c:v>64</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26343D"/>
                </a:solidFill>
                <a:latin typeface="Arial"/>
                <a:ea typeface="Arial"/>
                <a:cs typeface="Arial"/>
              </a:defRPr>
            </a:pPr>
          </a:p>
        </c:txPr>
        <c:crossAx val="48672768"/>
      </c:catAx>
      <c:valAx>
        <c:axId val="48672768"/>
        <c:scaling>
          <c:orientation val="minMax"/>
          <c:max val="151"/>
          <c:min val="0"/>
        </c:scaling>
        <c:delete val="0"/>
        <c:axPos val="b"/>
        <c:majorGridlines>
          <c:spPr>
            <a:ln xmlns:a="http://schemas.openxmlformats.org/drawingml/2006/main" w="9525">
              <a:solidFill>
                <a:srgbClr val="DCE3E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3636C"/>
                </a:solidFill>
                <a:latin typeface="Arial"/>
                <a:ea typeface="Arial"/>
                <a:cs typeface="Arial"/>
              </a:defRPr>
            </a:pPr>
          </a:p>
        </c:txPr>
        <c:crossAx val="48650112"/>
        <c:crossBetween val="between"/>
        <c:majorUnit val="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A3CCB73-EC3C-4445-811E-6CAABBBDDB06}"/>
              </a:ext>
            </a:extLst>
          </p:cNvPr>
          <p:cNvSpPr>
            <a:spLocks xmlns:a="http://schemas.openxmlformats.org/drawingml/2006/main" noGrp="1"/>
          </p:cNvSpPr>
          <p:nvPr/>
        </p:nvSpPr>
        <p:spPr>
          <a:xfrm xmlns:a="http://schemas.openxmlformats.org/drawingml/2006/main">
            <a:off x="609600" y="9810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72B3A"/>
                </a:solidFill>
                <a:latin typeface="Arial"/>
                <a:ea typeface="Arial"/>
                <a:cs typeface="Arial"/>
              </a:defRPr>
            </a:pPr>
            <a:r>
              <a:rPr sz="4800" b="1">
                <a:solidFill>
                  <a:srgbClr val="172B3A"/>
                </a:solidFill>
                <a:latin typeface="Arial"/>
                <a:ea typeface="Arial"/>
                <a:cs typeface="Arial"/>
              </a:rPr>
              <a:t>SemOpt</a:t>
            </a:r>
          </a:p>
        </p:txBody>
      </p:sp>
      <p:sp>
        <p:nvSpPr>
          <p:cNvPr id="2" name="paper-title">
            <a:extLst xmlns:a="http://schemas.openxmlformats.org/drawingml/2006/main">
              <a:ext uri="{FF2B5EF4-FFF2-40B4-BE49-F238E27FC236}">
                <a16:creationId xmlns:a16="http://schemas.microsoft.com/office/drawing/2014/main" id="{49388B1B-7874-4E59-BE5C-9EACC81BD4AD}"/>
              </a:ext>
            </a:extLst>
          </p:cNvPr>
          <p:cNvSpPr>
            <a:spLocks xmlns:a="http://schemas.openxmlformats.org/drawingml/2006/main" noGrp="1"/>
          </p:cNvSpPr>
          <p:nvPr/>
        </p:nvSpPr>
        <p:spPr>
          <a:xfrm xmlns:a="http://schemas.openxmlformats.org/drawingml/2006/main">
            <a:off x="609600" y="1952625"/>
            <a:ext cx="10477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72B3A"/>
                </a:solidFill>
                <a:latin typeface="Arial"/>
                <a:ea typeface="Arial"/>
                <a:cs typeface="Arial"/>
              </a:defRPr>
            </a:pPr>
            <a:r>
              <a:rPr sz="3300" b="0">
                <a:solidFill>
                  <a:srgbClr val="172B3A"/>
                </a:solidFill>
                <a:latin typeface="Arial"/>
                <a:ea typeface="Arial"/>
                <a:cs typeface="Arial"/>
              </a:rPr>
              <a:t>LLM-Driven Code Optimization</a:t>
            </a:r>
          </a:p>
          <a:p xmlns:a="http://schemas.openxmlformats.org/drawingml/2006/main">
            <a:pPr algn="l">
              <a:defRPr sz="3300" b="0">
                <a:solidFill>
                  <a:srgbClr val="172B3A"/>
                </a:solidFill>
                <a:latin typeface="Arial"/>
                <a:ea typeface="Arial"/>
                <a:cs typeface="Arial"/>
              </a:defRPr>
            </a:pPr>
            <a:r>
              <a:rPr sz="3300" b="0">
                <a:solidFill>
                  <a:srgbClr val="172B3A"/>
                </a:solidFill>
                <a:latin typeface="Arial"/>
                <a:ea typeface="Arial"/>
                <a:cs typeface="Arial"/>
              </a:rPr>
              <a:t>via Rule-Based Analysis</a:t>
            </a:r>
          </a:p>
        </p:txBody>
      </p:sp>
      <p:sp>
        <p:nvSpPr>
          <p:cNvPr id="3" name="authors">
            <a:extLst xmlns:a="http://schemas.openxmlformats.org/drawingml/2006/main">
              <a:ext uri="{FF2B5EF4-FFF2-40B4-BE49-F238E27FC236}">
                <a16:creationId xmlns:a16="http://schemas.microsoft.com/office/drawing/2014/main" id="{FAA1EA00-5E30-4AB9-9763-500F7E12F02B}"/>
              </a:ext>
            </a:extLst>
          </p:cNvPr>
          <p:cNvSpPr>
            <a:spLocks xmlns:a="http://schemas.openxmlformats.org/drawingml/2006/main" noGrp="1"/>
          </p:cNvSpPr>
          <p:nvPr/>
        </p:nvSpPr>
        <p:spPr>
          <a:xfrm xmlns:a="http://schemas.openxmlformats.org/drawingml/2006/main">
            <a:off x="609600" y="37052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43D"/>
                </a:solidFill>
                <a:latin typeface="Arial"/>
                <a:ea typeface="Arial"/>
                <a:cs typeface="Arial"/>
              </a:defRPr>
            </a:pPr>
            <a:r>
              <a:rPr sz="2100" b="0">
                <a:solidFill>
                  <a:srgbClr val="26343D"/>
                </a:solidFill>
                <a:latin typeface="Arial"/>
                <a:ea typeface="Arial"/>
                <a:cs typeface="Arial"/>
              </a:rPr>
              <a:t>Yuwei Zhao, Yuan-An Xiao, Qianyu Xiao,</a:t>
            </a:r>
          </a:p>
          <a:p xmlns:a="http://schemas.openxmlformats.org/drawingml/2006/main">
            <a:pPr algn="l">
              <a:defRPr sz="2100" b="0">
                <a:solidFill>
                  <a:srgbClr val="26343D"/>
                </a:solidFill>
                <a:latin typeface="Arial"/>
                <a:ea typeface="Arial"/>
                <a:cs typeface="Arial"/>
              </a:defRPr>
            </a:pPr>
            <a:r>
              <a:rPr sz="2100" b="0">
                <a:solidFill>
                  <a:srgbClr val="26343D"/>
                </a:solidFill>
                <a:latin typeface="Arial"/>
                <a:ea typeface="Arial"/>
                <a:cs typeface="Arial"/>
              </a:rPr>
              <a:t>Zhao Zhang, and Yingfei Xiong</a:t>
            </a:r>
          </a:p>
        </p:txBody>
      </p:sp>
      <p:sp>
        <p:nvSpPr>
          <p:cNvPr id="4" name="venue">
            <a:extLst xmlns:a="http://schemas.openxmlformats.org/drawingml/2006/main">
              <a:ext uri="{FF2B5EF4-FFF2-40B4-BE49-F238E27FC236}">
                <a16:creationId xmlns:a16="http://schemas.microsoft.com/office/drawing/2014/main" id="{44B85618-714B-4AE1-A89A-F4449AAA387B}"/>
              </a:ext>
            </a:extLst>
          </p:cNvPr>
          <p:cNvSpPr>
            <a:spLocks xmlns:a="http://schemas.openxmlformats.org/drawingml/2006/main" noGrp="1"/>
          </p:cNvSpPr>
          <p:nvPr/>
        </p:nvSpPr>
        <p:spPr>
          <a:xfrm xmlns:a="http://schemas.openxmlformats.org/drawingml/2006/main">
            <a:off x="609600" y="46958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66B78"/>
                </a:solidFill>
                <a:latin typeface="Arial"/>
                <a:ea typeface="Arial"/>
                <a:cs typeface="Arial"/>
              </a:defRPr>
            </a:pPr>
            <a:r>
              <a:rPr sz="2100" b="1">
                <a:solidFill>
                  <a:srgbClr val="166B78"/>
                </a:solidFill>
                <a:latin typeface="Arial"/>
                <a:ea typeface="Arial"/>
                <a:cs typeface="Arial"/>
              </a:rPr>
              <a:t>ACM TOSEM, 2026</a:t>
            </a:r>
          </a:p>
        </p:txBody>
      </p:sp>
      <p:sp>
        <p:nvSpPr>
          <p:cNvPr id="5" name="meeting">
            <a:extLst xmlns:a="http://schemas.openxmlformats.org/drawingml/2006/main">
              <a:ext uri="{FF2B5EF4-FFF2-40B4-BE49-F238E27FC236}">
                <a16:creationId xmlns:a16="http://schemas.microsoft.com/office/drawing/2014/main" id="{289CD4C9-9E4C-4D01-B07B-7BE74C55D494}"/>
              </a:ext>
            </a:extLst>
          </p:cNvPr>
          <p:cNvSpPr>
            <a:spLocks xmlns:a="http://schemas.openxmlformats.org/drawingml/2006/main" noGrp="1"/>
          </p:cNvSpPr>
          <p:nvPr/>
        </p:nvSpPr>
        <p:spPr>
          <a:xfrm xmlns:a="http://schemas.openxmlformats.org/drawingml/2006/main">
            <a:off x="609600" y="53435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Advisor paper discussion</a:t>
            </a:r>
          </a:p>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6 October 2026</a:t>
            </a:r>
          </a:p>
        </p:txBody>
      </p:sp>
      <p:sp>
        <p:nvSpPr>
          <p:cNvPr id="6" name="source">
            <a:extLst xmlns:a="http://schemas.openxmlformats.org/drawingml/2006/main">
              <a:ext uri="{FF2B5EF4-FFF2-40B4-BE49-F238E27FC236}">
                <a16:creationId xmlns:a16="http://schemas.microsoft.com/office/drawing/2014/main" id="{ABA06D26-5B6A-4367-ACD0-CCEE3422B4DE}"/>
              </a:ext>
            </a:extLst>
          </p:cNvPr>
          <p:cNvSpPr>
            <a:spLocks xmlns:a="http://schemas.openxmlformats.org/drawingml/2006/main" noGrp="1"/>
          </p:cNvSpPr>
          <p:nvPr/>
        </p:nvSpPr>
        <p:spPr>
          <a:xfrm xmlns:a="http://schemas.openxmlformats.org/drawingml/2006/main">
            <a:off x="609600" y="6315075"/>
            <a:ext cx="10429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a:t>
            </a:r>
            <a:r>
              <a:rPr sz="1200" b="0">
                <a:solidFill>
                  <a:srgbClr val="53636C"/>
                </a:solidFill>
                <a:latin typeface="Arial"/>
                <a:ea typeface="Arial"/>
                <a:cs typeface="Arial"/>
                <a:hlinkClick xmlns:r="http://schemas.openxmlformats.org/officeDocument/2006/relationships" r:id="Rdf4ee59d17294628"/>
              </a:rPr>
              <a:t>doi.org/10.1145/3820167</a:t>
            </a:r>
          </a:p>
        </p:txBody>
      </p:sp>
      <p:sp>
        <p:nvSpPr>
          <p:cNvPr id="7" name="page">
            <a:extLst xmlns:a="http://schemas.openxmlformats.org/drawingml/2006/main">
              <a:ext uri="{FF2B5EF4-FFF2-40B4-BE49-F238E27FC236}">
                <a16:creationId xmlns:a16="http://schemas.microsoft.com/office/drawing/2014/main" id="{E8B545B2-ADE1-423B-8288-A94A9134F90D}"/>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a:t>
            </a:r>
          </a:p>
        </p:txBody>
      </p:sp>
    </p:spTree>
    <p:extLst>
      <p:ext uri="{BB962C8B-B14F-4D97-AF65-F5344CB8AC3E}">
        <p14:creationId xmlns:p14="http://schemas.microsoft.com/office/powerpoint/2010/main" val="5543073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C656F09-F7B9-45C8-B151-1BBEC5678C58}"/>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The optimization opportunity problem</a:t>
            </a:r>
          </a:p>
        </p:txBody>
      </p:sp>
      <p:sp>
        <p:nvSpPr>
          <p:cNvPr id="2" name="source">
            <a:extLst xmlns:a="http://schemas.openxmlformats.org/drawingml/2006/main">
              <a:ext uri="{FF2B5EF4-FFF2-40B4-BE49-F238E27FC236}">
                <a16:creationId xmlns:a16="http://schemas.microsoft.com/office/drawing/2014/main" id="{E81D00DA-E089-4128-8117-B08C793CCC7C}"/>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2-9</a:t>
            </a:r>
          </a:p>
        </p:txBody>
      </p:sp>
      <p:sp>
        <p:nvSpPr>
          <p:cNvPr id="3" name="page">
            <a:extLst xmlns:a="http://schemas.openxmlformats.org/drawingml/2006/main">
              <a:ext uri="{FF2B5EF4-FFF2-40B4-BE49-F238E27FC236}">
                <a16:creationId xmlns:a16="http://schemas.microsoft.com/office/drawing/2014/main" id="{423E338A-3568-4E1F-9EDB-0F5D80474947}"/>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2</a:t>
            </a:r>
          </a:p>
        </p:txBody>
      </p:sp>
      <p:sp>
        <p:nvSpPr>
          <p:cNvPr id="4" name="question">
            <a:extLst xmlns:a="http://schemas.openxmlformats.org/drawingml/2006/main">
              <a:ext uri="{FF2B5EF4-FFF2-40B4-BE49-F238E27FC236}">
                <a16:creationId xmlns:a16="http://schemas.microsoft.com/office/drawing/2014/main" id="{2051CD1C-0DF5-401D-9535-CF670CE79770}"/>
              </a:ext>
            </a:extLst>
          </p:cNvPr>
          <p:cNvSpPr>
            <a:spLocks xmlns:a="http://schemas.openxmlformats.org/drawingml/2006/main" noGrp="1"/>
          </p:cNvSpPr>
          <p:nvPr/>
        </p:nvSpPr>
        <p:spPr>
          <a:xfrm xmlns:a="http://schemas.openxmlformats.org/drawingml/2006/main">
            <a:off x="609600" y="14001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66B78"/>
                </a:solidFill>
                <a:latin typeface="Arial"/>
                <a:ea typeface="Arial"/>
                <a:cs typeface="Arial"/>
              </a:defRPr>
            </a:pPr>
            <a:r>
              <a:rPr sz="2700" b="1">
                <a:solidFill>
                  <a:srgbClr val="166B78"/>
                </a:solidFill>
                <a:latin typeface="Arial"/>
                <a:ea typeface="Arial"/>
                <a:cs typeface="Arial"/>
              </a:rPr>
              <a:t>Which strategy applies, and where?</a:t>
            </a:r>
          </a:p>
        </p:txBody>
      </p:sp>
      <p:graphicFrame>
        <p:nvGraphicFramePr>
          <p:cNvPr id="11" name=""/>
          <p:cNvGraphicFramePr/>
          <p:nvPr/>
        </p:nvGraphicFramePr>
        <p:xfrm>
          <a:off xmlns:a="http://schemas.openxmlformats.org/drawingml/2006/main" x="609600" y="2219325"/>
          <a:ext xmlns:a="http://schemas.openxmlformats.org/drawingml/2006/main" cx="10972800" cy="3048000"/>
        </p:xfrm>
        <a:graphic xmlns:a="http://schemas.openxmlformats.org/drawingml/2006/main">
          <a:graphicData uri="http://schemas.openxmlformats.org/drawingml/2006/table">
            <a:tbl>
              <a:tblPr/>
              <a:tblGrid>
                <a:gridCol w="2476500"/>
                <a:gridCol w="4095750"/>
                <a:gridCol w="4400550"/>
              </a:tblGrid>
              <a:tr h="762000">
                <a:tc>
                  <a:txBody>
                    <a:bodyPr>
                      <a:noAutofit/>
                    </a:bodyPr>
                    <a:lstStyle/>
                    <a:p>
                      <a:r>
                        <a:rPr sz="1875" b="1">
                          <a:solidFill>
                            <a:srgbClr val="172B3A"/>
                          </a:solidFill>
                          <a:latin typeface="Arial"/>
                          <a:ea typeface="Arial"/>
                          <a:cs typeface="Arial"/>
                        </a:rPr>
                        <a:t>Approach</a:t>
                      </a:r>
                    </a:p>
                  </a:txBody>
                  <a:tcPr marL="133350" marR="133350" marT="85725" marB="85725" anchor="ctr">
                    <a:solidFill>
                      <a:srgbClr val="F2F5F6"/>
                    </a:solidFill>
                  </a:tcPr>
                </a:tc>
                <a:tc>
                  <a:txBody>
                    <a:bodyPr>
                      <a:noAutofit/>
                    </a:bodyPr>
                    <a:lstStyle/>
                    <a:p>
                      <a:r>
                        <a:rPr sz="1875" b="1">
                          <a:solidFill>
                            <a:srgbClr val="172B3A"/>
                          </a:solidFill>
                          <a:latin typeface="Arial"/>
                          <a:ea typeface="Arial"/>
                          <a:cs typeface="Arial"/>
                        </a:rPr>
                        <a:t>Useful capability</a:t>
                      </a:r>
                    </a:p>
                  </a:txBody>
                  <a:tcPr marL="133350" marR="133350" marT="85725" marB="85725" anchor="ctr">
                    <a:solidFill>
                      <a:srgbClr val="F2F5F6"/>
                    </a:solidFill>
                  </a:tcPr>
                </a:tc>
                <a:tc>
                  <a:txBody>
                    <a:bodyPr>
                      <a:noAutofit/>
                    </a:bodyPr>
                    <a:lstStyle/>
                    <a:p>
                      <a:r>
                        <a:rPr sz="1875" b="1">
                          <a:solidFill>
                            <a:srgbClr val="172B3A"/>
                          </a:solidFill>
                          <a:latin typeface="Arial"/>
                          <a:ea typeface="Arial"/>
                          <a:cs typeface="Arial"/>
                        </a:rPr>
                        <a:t>Main difficulty</a:t>
                      </a:r>
                    </a:p>
                  </a:txBody>
                  <a:tcPr marL="133350" marR="133350" marT="85725" marB="85725" anchor="ctr">
                    <a:solidFill>
                      <a:srgbClr val="F2F5F6"/>
                    </a:solidFill>
                  </a:tcPr>
                </a:tc>
              </a:tr>
              <a:tr h="762000">
                <a:tc>
                  <a:txBody>
                    <a:bodyPr>
                      <a:noAutofit/>
                    </a:bodyPr>
                    <a:lstStyle/>
                    <a:p>
                      <a:r>
                        <a:rPr sz="1875" b="0">
                          <a:solidFill>
                            <a:srgbClr val="26343D"/>
                          </a:solidFill>
                          <a:latin typeface="Arial"/>
                          <a:ea typeface="Arial"/>
                          <a:cs typeface="Arial"/>
                        </a:rPr>
                        <a:t>Direct prompting</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Generates edits from the function</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May overlook a relevant opportunity</a:t>
                      </a:r>
                    </a:p>
                  </a:txBody>
                  <a:tcPr marL="133350" marR="133350" marT="85725" marB="85725" anchor="ctr">
                    <a:solidFill>
                      <a:srgbClr val="FFFFFF"/>
                    </a:solidFill>
                  </a:tcPr>
                </a:tc>
              </a:tr>
              <a:tr h="762000">
                <a:tc>
                  <a:txBody>
                    <a:bodyPr>
                      <a:noAutofit/>
                    </a:bodyPr>
                    <a:lstStyle/>
                    <a:p>
                      <a:r>
                        <a:rPr sz="1875" b="0">
                          <a:solidFill>
                            <a:srgbClr val="26343D"/>
                          </a:solidFill>
                          <a:latin typeface="Arial"/>
                          <a:ea typeface="Arial"/>
                          <a:cs typeface="Arial"/>
                        </a:rPr>
                        <a:t>Retrieve past edits</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Supplies concrete examples</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Code similarity can miss a shared strategy</a:t>
                      </a:r>
                    </a:p>
                  </a:txBody>
                  <a:tcPr marL="133350" marR="133350" marT="85725" marB="85725" anchor="ctr">
                    <a:solidFill>
                      <a:srgbClr val="FFFFFF"/>
                    </a:solidFill>
                  </a:tcPr>
                </a:tc>
              </a:tr>
              <a:tr h="762000">
                <a:tc>
                  <a:txBody>
                    <a:bodyPr>
                      <a:noAutofit/>
                    </a:bodyPr>
                    <a:lstStyle/>
                    <a:p>
                      <a:r>
                        <a:rPr sz="1875" b="0">
                          <a:solidFill>
                            <a:srgbClr val="26343D"/>
                          </a:solidFill>
                          <a:latin typeface="Arial"/>
                          <a:ea typeface="Arial"/>
                          <a:cs typeface="Arial"/>
                        </a:rPr>
                        <a:t>Handwritten rules</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Finds known code patterns</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Requires manual work and has limited coverage</a:t>
                      </a:r>
                    </a:p>
                  </a:txBody>
                  <a:tcPr marL="133350" marR="133350" marT="85725" marB="85725" anchor="ctr">
                    <a:solidFill>
                      <a:srgbClr val="FFFFFF"/>
                    </a:solidFill>
                  </a:tcPr>
                </a:tc>
              </a:tr>
            </a:tbl>
          </a:graphicData>
        </a:graphic>
      </p:graphicFrame>
      <p:sp>
        <p:nvSpPr>
          <p:cNvPr id="6" name="contribution">
            <a:extLst xmlns:a="http://schemas.openxmlformats.org/drawingml/2006/main">
              <a:ext uri="{FF2B5EF4-FFF2-40B4-BE49-F238E27FC236}">
                <a16:creationId xmlns:a16="http://schemas.microsoft.com/office/drawing/2014/main" id="{C117AFA5-2121-4878-89FF-8D6A96B7E35E}"/>
              </a:ext>
            </a:extLst>
          </p:cNvPr>
          <p:cNvSpPr>
            <a:spLocks xmlns:a="http://schemas.openxmlformats.org/drawingml/2006/main" noGrp="1"/>
          </p:cNvSpPr>
          <p:nvPr/>
        </p:nvSpPr>
        <p:spPr>
          <a:xfrm xmlns:a="http://schemas.openxmlformats.org/drawingml/2006/main">
            <a:off x="609600" y="56007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SemOpt learns reusable rules that identify where a strategy may apply.</a:t>
            </a:r>
          </a:p>
        </p:txBody>
      </p:sp>
    </p:spTree>
    <p:extLst>
      <p:ext uri="{BB962C8B-B14F-4D97-AF65-F5344CB8AC3E}">
        <p14:creationId xmlns:p14="http://schemas.microsoft.com/office/powerpoint/2010/main" val="15624861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28B54304-06EA-4CEF-BCE3-4D5D84695FAF}"/>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Example: reordering condition checks</a:t>
            </a:r>
          </a:p>
        </p:txBody>
      </p:sp>
      <p:sp>
        <p:nvSpPr>
          <p:cNvPr id="2" name="source">
            <a:extLst xmlns:a="http://schemas.openxmlformats.org/drawingml/2006/main">
              <a:ext uri="{FF2B5EF4-FFF2-40B4-BE49-F238E27FC236}">
                <a16:creationId xmlns:a16="http://schemas.microsoft.com/office/drawing/2014/main" id="{D6ED1A91-4638-49CC-8259-1038F432A80C}"/>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5-9. Simplified Python illustration for this presentation.</a:t>
            </a:r>
          </a:p>
        </p:txBody>
      </p:sp>
      <p:sp>
        <p:nvSpPr>
          <p:cNvPr id="3" name="page">
            <a:extLst xmlns:a="http://schemas.openxmlformats.org/drawingml/2006/main">
              <a:ext uri="{FF2B5EF4-FFF2-40B4-BE49-F238E27FC236}">
                <a16:creationId xmlns:a16="http://schemas.microsoft.com/office/drawing/2014/main" id="{DA561FAD-5244-4D18-829E-9669F84E9E89}"/>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3</a:t>
            </a:r>
          </a:p>
        </p:txBody>
      </p:sp>
      <p:sp>
        <p:nvSpPr>
          <p:cNvPr id="4" name="before-label">
            <a:extLst xmlns:a="http://schemas.openxmlformats.org/drawingml/2006/main">
              <a:ext uri="{FF2B5EF4-FFF2-40B4-BE49-F238E27FC236}">
                <a16:creationId xmlns:a16="http://schemas.microsoft.com/office/drawing/2014/main" id="{D1A12310-4A53-417B-A7C2-122E53AB371E}"/>
              </a:ext>
            </a:extLst>
          </p:cNvPr>
          <p:cNvSpPr>
            <a:spLocks xmlns:a="http://schemas.openxmlformats.org/drawingml/2006/main" noGrp="1"/>
          </p:cNvSpPr>
          <p:nvPr/>
        </p:nvSpPr>
        <p:spPr>
          <a:xfrm xmlns:a="http://schemas.openxmlformats.org/drawingml/2006/main">
            <a:off x="609600" y="157162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B3A"/>
                </a:solidFill>
                <a:latin typeface="Arial"/>
                <a:ea typeface="Arial"/>
                <a:cs typeface="Arial"/>
              </a:defRPr>
            </a:pPr>
            <a:r>
              <a:rPr sz="2175" b="1">
                <a:solidFill>
                  <a:srgbClr val="172B3A"/>
                </a:solidFill>
                <a:latin typeface="Arial"/>
                <a:ea typeface="Arial"/>
                <a:cs typeface="Arial"/>
              </a:rPr>
              <a:t>Original order</a:t>
            </a:r>
          </a:p>
        </p:txBody>
      </p:sp>
      <p:sp>
        <p:nvSpPr>
          <p:cNvPr id="5" name="before-code">
            <a:extLst xmlns:a="http://schemas.openxmlformats.org/drawingml/2006/main">
              <a:ext uri="{FF2B5EF4-FFF2-40B4-BE49-F238E27FC236}">
                <a16:creationId xmlns:a16="http://schemas.microsoft.com/office/drawing/2014/main" id="{35075339-4135-4806-8270-EF27155881C4}"/>
              </a:ext>
            </a:extLst>
          </p:cNvPr>
          <p:cNvSpPr>
            <a:spLocks xmlns:a="http://schemas.openxmlformats.org/drawingml/2006/main" noGrp="1"/>
          </p:cNvSpPr>
          <p:nvPr/>
        </p:nvSpPr>
        <p:spPr>
          <a:xfrm xmlns:a="http://schemas.openxmlformats.org/drawingml/2006/main">
            <a:off x="609600" y="2228850"/>
            <a:ext cx="52482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Consolas"/>
                <a:ea typeface="Consolas"/>
                <a:cs typeface="Consolas"/>
              </a:defRPr>
            </a:pPr>
            <a:r>
              <a:rPr sz="1950" b="0">
                <a:solidFill>
                  <a:srgbClr val="26343D"/>
                </a:solidFill>
                <a:latin typeface="Consolas"/>
                <a:ea typeface="Consolas"/>
                <a:cs typeface="Consolas"/>
              </a:rPr>
              <a:t>if costly_check(x) and x.enabled:</a:t>
            </a:r>
          </a:p>
          <a:p xmlns:a="http://schemas.openxmlformats.org/drawingml/2006/main">
            <a:pPr algn="l">
              <a:defRPr sz="1950" b="0">
                <a:solidFill>
                  <a:srgbClr val="26343D"/>
                </a:solidFill>
                <a:latin typeface="Consolas"/>
                <a:ea typeface="Consolas"/>
                <a:cs typeface="Consolas"/>
              </a:defRPr>
            </a:pPr>
            <a:r>
              <a:rPr sz="1950" b="0">
                <a:solidFill>
                  <a:srgbClr val="26343D"/>
                </a:solidFill>
                <a:latin typeface="Consolas"/>
                <a:ea typeface="Consolas"/>
                <a:cs typeface="Consolas"/>
              </a:rPr>
              <a:t>    process(x)</a:t>
            </a:r>
          </a:p>
        </p:txBody>
      </p:sp>
      <p:sp>
        <p:nvSpPr>
          <p:cNvPr id="6" name="after-label">
            <a:extLst xmlns:a="http://schemas.openxmlformats.org/drawingml/2006/main">
              <a:ext uri="{FF2B5EF4-FFF2-40B4-BE49-F238E27FC236}">
                <a16:creationId xmlns:a16="http://schemas.microsoft.com/office/drawing/2014/main" id="{8F983EF4-2CAA-423A-B5A3-99E59D4CFDA0}"/>
              </a:ext>
            </a:extLst>
          </p:cNvPr>
          <p:cNvSpPr>
            <a:spLocks xmlns:a="http://schemas.openxmlformats.org/drawingml/2006/main" noGrp="1"/>
          </p:cNvSpPr>
          <p:nvPr/>
        </p:nvSpPr>
        <p:spPr>
          <a:xfrm xmlns:a="http://schemas.openxmlformats.org/drawingml/2006/main">
            <a:off x="6324600" y="15716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66B78"/>
                </a:solidFill>
                <a:latin typeface="Arial"/>
                <a:ea typeface="Arial"/>
                <a:cs typeface="Arial"/>
              </a:defRPr>
            </a:pPr>
            <a:r>
              <a:rPr sz="2175" b="1">
                <a:solidFill>
                  <a:srgbClr val="166B78"/>
                </a:solidFill>
                <a:latin typeface="Arial"/>
                <a:ea typeface="Arial"/>
                <a:cs typeface="Arial"/>
              </a:rPr>
              <a:t>Candidate order</a:t>
            </a:r>
          </a:p>
        </p:txBody>
      </p:sp>
      <p:sp>
        <p:nvSpPr>
          <p:cNvPr id="7" name="after-code">
            <a:extLst xmlns:a="http://schemas.openxmlformats.org/drawingml/2006/main">
              <a:ext uri="{FF2B5EF4-FFF2-40B4-BE49-F238E27FC236}">
                <a16:creationId xmlns:a16="http://schemas.microsoft.com/office/drawing/2014/main" id="{AA19F075-B0D2-42CF-8DEF-4392E68927D7}"/>
              </a:ext>
            </a:extLst>
          </p:cNvPr>
          <p:cNvSpPr>
            <a:spLocks xmlns:a="http://schemas.openxmlformats.org/drawingml/2006/main" noGrp="1"/>
          </p:cNvSpPr>
          <p:nvPr/>
        </p:nvSpPr>
        <p:spPr>
          <a:xfrm xmlns:a="http://schemas.openxmlformats.org/drawingml/2006/main">
            <a:off x="6324600" y="2228850"/>
            <a:ext cx="5257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Consolas"/>
                <a:ea typeface="Consolas"/>
                <a:cs typeface="Consolas"/>
              </a:defRPr>
            </a:pPr>
            <a:r>
              <a:rPr sz="1950" b="0">
                <a:solidFill>
                  <a:srgbClr val="26343D"/>
                </a:solidFill>
                <a:latin typeface="Consolas"/>
                <a:ea typeface="Consolas"/>
                <a:cs typeface="Consolas"/>
              </a:rPr>
              <a:t>if x.enabled and costly_check(x):</a:t>
            </a:r>
          </a:p>
          <a:p xmlns:a="http://schemas.openxmlformats.org/drawingml/2006/main">
            <a:pPr algn="l">
              <a:defRPr sz="1950" b="0">
                <a:solidFill>
                  <a:srgbClr val="26343D"/>
                </a:solidFill>
                <a:latin typeface="Consolas"/>
                <a:ea typeface="Consolas"/>
                <a:cs typeface="Consolas"/>
              </a:defRPr>
            </a:pPr>
            <a:r>
              <a:rPr sz="1950" b="0">
                <a:solidFill>
                  <a:srgbClr val="26343D"/>
                </a:solidFill>
                <a:latin typeface="Consolas"/>
                <a:ea typeface="Consolas"/>
                <a:cs typeface="Consolas"/>
              </a:rPr>
              <a:t>    process(x)</a:t>
            </a:r>
          </a:p>
        </p:txBody>
      </p:sp>
      <p:sp>
        <p:nvSpPr>
          <p:cNvPr id="8" name="benefit-heading">
            <a:extLst xmlns:a="http://schemas.openxmlformats.org/drawingml/2006/main">
              <a:ext uri="{FF2B5EF4-FFF2-40B4-BE49-F238E27FC236}">
                <a16:creationId xmlns:a16="http://schemas.microsoft.com/office/drawing/2014/main" id="{21139D8F-9AA6-4A79-9476-498506C9409C}"/>
              </a:ext>
            </a:extLst>
          </p:cNvPr>
          <p:cNvSpPr>
            <a:spLocks xmlns:a="http://schemas.openxmlformats.org/drawingml/2006/main" noGrp="1"/>
          </p:cNvSpPr>
          <p:nvPr/>
        </p:nvSpPr>
        <p:spPr>
          <a:xfrm xmlns:a="http://schemas.openxmlformats.org/drawingml/2006/main">
            <a:off x="609600" y="3905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Potential benefit</a:t>
            </a:r>
          </a:p>
        </p:txBody>
      </p:sp>
      <p:sp>
        <p:nvSpPr>
          <p:cNvPr id="9" name="benefit-body">
            <a:extLst xmlns:a="http://schemas.openxmlformats.org/drawingml/2006/main">
              <a:ext uri="{FF2B5EF4-FFF2-40B4-BE49-F238E27FC236}">
                <a16:creationId xmlns:a16="http://schemas.microsoft.com/office/drawing/2014/main" id="{C0624FA2-1CBD-434E-94E0-5A67D8C19E86}"/>
              </a:ext>
            </a:extLst>
          </p:cNvPr>
          <p:cNvSpPr>
            <a:spLocks xmlns:a="http://schemas.openxmlformats.org/drawingml/2006/main" noGrp="1"/>
          </p:cNvSpPr>
          <p:nvPr/>
        </p:nvSpPr>
        <p:spPr>
          <a:xfrm xmlns:a="http://schemas.openxmlformats.org/drawingml/2006/main">
            <a:off x="609600" y="432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When x.enabled is false, the candidate skips costly_check(x).</a:t>
            </a:r>
          </a:p>
        </p:txBody>
      </p:sp>
      <p:sp>
        <p:nvSpPr>
          <p:cNvPr id="10" name="condition-heading">
            <a:extLst xmlns:a="http://schemas.openxmlformats.org/drawingml/2006/main">
              <a:ext uri="{FF2B5EF4-FFF2-40B4-BE49-F238E27FC236}">
                <a16:creationId xmlns:a16="http://schemas.microsoft.com/office/drawing/2014/main" id="{CD346B2E-04EE-43AC-A8D1-4CD1BC45BFA9}"/>
              </a:ext>
            </a:extLst>
          </p:cNvPr>
          <p:cNvSpPr>
            <a:spLocks xmlns:a="http://schemas.openxmlformats.org/drawingml/2006/main" noGrp="1"/>
          </p:cNvSpPr>
          <p:nvPr/>
        </p:nvSpPr>
        <p:spPr>
          <a:xfrm xmlns:a="http://schemas.openxmlformats.org/drawingml/2006/main">
            <a:off x="609600" y="5048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Required reasoning</a:t>
            </a:r>
          </a:p>
        </p:txBody>
      </p:sp>
      <p:sp>
        <p:nvSpPr>
          <p:cNvPr id="11" name="condition-body">
            <a:extLst xmlns:a="http://schemas.openxmlformats.org/drawingml/2006/main">
              <a:ext uri="{FF2B5EF4-FFF2-40B4-BE49-F238E27FC236}">
                <a16:creationId xmlns:a16="http://schemas.microsoft.com/office/drawing/2014/main" id="{0D1CC1E2-7B6C-4D15-82C4-15410C6BF886}"/>
              </a:ext>
            </a:extLst>
          </p:cNvPr>
          <p:cNvSpPr>
            <a:spLocks xmlns:a="http://schemas.openxmlformats.org/drawingml/2006/main" noGrp="1"/>
          </p:cNvSpPr>
          <p:nvPr/>
        </p:nvSpPr>
        <p:spPr>
          <a:xfrm xmlns:a="http://schemas.openxmlformats.org/drawingml/2006/main">
            <a:off x="609600" y="54673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Skipping or reordering the call must preserve side effects and exceptions. The input distribution determines the benefit.</a:t>
            </a:r>
          </a:p>
        </p:txBody>
      </p:sp>
    </p:spTree>
    <p:extLst>
      <p:ext uri="{BB962C8B-B14F-4D97-AF65-F5344CB8AC3E}">
        <p14:creationId xmlns:p14="http://schemas.microsoft.com/office/powerpoint/2010/main" val="11131270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3DBAAE2-2FA9-4A1B-B064-B651D3EEB6E8}"/>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SemOpt architecture</a:t>
            </a:r>
          </a:p>
        </p:txBody>
      </p:sp>
      <p:sp>
        <p:nvSpPr>
          <p:cNvPr id="2" name="source">
            <a:extLst xmlns:a="http://schemas.openxmlformats.org/drawingml/2006/main">
              <a:ext uri="{FF2B5EF4-FFF2-40B4-BE49-F238E27FC236}">
                <a16:creationId xmlns:a16="http://schemas.microsoft.com/office/drawing/2014/main" id="{62EE582E-2D6B-4EC6-9C36-5AA9249EEE52}"/>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 3, Figure 1 (reproduced), and pp. 9-13</a:t>
            </a:r>
          </a:p>
        </p:txBody>
      </p:sp>
      <p:sp>
        <p:nvSpPr>
          <p:cNvPr id="3" name="page">
            <a:extLst xmlns:a="http://schemas.openxmlformats.org/drawingml/2006/main">
              <a:ext uri="{FF2B5EF4-FFF2-40B4-BE49-F238E27FC236}">
                <a16:creationId xmlns:a16="http://schemas.microsoft.com/office/drawing/2014/main" id="{B6126448-21B7-4663-9BCA-EA43CFB5B3EF}"/>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75d6640167e4d8e"/>
          <a:stretch xmlns:a="http://schemas.openxmlformats.org/drawingml/2006/main"/>
        </p:blipFill>
        <p:spPr>
          <a:xfrm xmlns:a="http://schemas.openxmlformats.org/drawingml/2006/main">
            <a:off x="609600" y="1526292"/>
            <a:ext cx="10972800" cy="2900541"/>
          </a:xfrm>
          <a:prstGeom xmlns:a="http://schemas.openxmlformats.org/drawingml/2006/main" prst="rect">
            <a:avLst/>
          </a:prstGeom>
        </p:spPr>
      </p:pic>
      <p:sp>
        <p:nvSpPr>
          <p:cNvPr id="5" name="role1">
            <a:extLst xmlns:a="http://schemas.openxmlformats.org/drawingml/2006/main">
              <a:ext uri="{FF2B5EF4-FFF2-40B4-BE49-F238E27FC236}">
                <a16:creationId xmlns:a16="http://schemas.microsoft.com/office/drawing/2014/main" id="{278958CB-7B27-426D-8E6A-23CD8E615C15}"/>
              </a:ext>
            </a:extLst>
          </p:cNvPr>
          <p:cNvSpPr>
            <a:spLocks xmlns:a="http://schemas.openxmlformats.org/drawingml/2006/main" noGrp="1"/>
          </p:cNvSpPr>
          <p:nvPr/>
        </p:nvSpPr>
        <p:spPr>
          <a:xfrm xmlns:a="http://schemas.openxmlformats.org/drawingml/2006/main">
            <a:off x="609600" y="486727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B3A"/>
                </a:solidFill>
                <a:latin typeface="Arial"/>
                <a:ea typeface="Arial"/>
                <a:cs typeface="Arial"/>
              </a:defRPr>
            </a:pPr>
            <a:r>
              <a:rPr sz="2175" b="1">
                <a:solidFill>
                  <a:srgbClr val="172B3A"/>
                </a:solidFill>
                <a:latin typeface="Arial"/>
                <a:ea typeface="Arial"/>
                <a:cs typeface="Arial"/>
              </a:rPr>
              <a:t>1  Mine and group strategies</a:t>
            </a:r>
          </a:p>
        </p:txBody>
      </p:sp>
      <p:sp>
        <p:nvSpPr>
          <p:cNvPr id="6" name="role2">
            <a:extLst xmlns:a="http://schemas.openxmlformats.org/drawingml/2006/main">
              <a:ext uri="{FF2B5EF4-FFF2-40B4-BE49-F238E27FC236}">
                <a16:creationId xmlns:a16="http://schemas.microsoft.com/office/drawing/2014/main" id="{F22BBFB6-A08F-470A-8212-CB51BFF46ADA}"/>
              </a:ext>
            </a:extLst>
          </p:cNvPr>
          <p:cNvSpPr>
            <a:spLocks xmlns:a="http://schemas.openxmlformats.org/drawingml/2006/main" noGrp="1"/>
          </p:cNvSpPr>
          <p:nvPr/>
        </p:nvSpPr>
        <p:spPr>
          <a:xfrm xmlns:a="http://schemas.openxmlformats.org/drawingml/2006/main">
            <a:off x="609600" y="53054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B3A"/>
                </a:solidFill>
                <a:latin typeface="Arial"/>
                <a:ea typeface="Arial"/>
                <a:cs typeface="Arial"/>
              </a:defRPr>
            </a:pPr>
            <a:r>
              <a:rPr sz="2175" b="1">
                <a:solidFill>
                  <a:srgbClr val="172B3A"/>
                </a:solidFill>
                <a:latin typeface="Arial"/>
                <a:ea typeface="Arial"/>
                <a:cs typeface="Arial"/>
              </a:rPr>
              <a:t>2  Generate rules that locate opportunities</a:t>
            </a:r>
          </a:p>
        </p:txBody>
      </p:sp>
      <p:sp>
        <p:nvSpPr>
          <p:cNvPr id="7" name="role3">
            <a:extLst xmlns:a="http://schemas.openxmlformats.org/drawingml/2006/main">
              <a:ext uri="{FF2B5EF4-FFF2-40B4-BE49-F238E27FC236}">
                <a16:creationId xmlns:a16="http://schemas.microsoft.com/office/drawing/2014/main" id="{3C142FE4-700E-4E23-BC86-BB8A9B9C4187}"/>
              </a:ext>
            </a:extLst>
          </p:cNvPr>
          <p:cNvSpPr>
            <a:spLocks xmlns:a="http://schemas.openxmlformats.org/drawingml/2006/main" noGrp="1"/>
          </p:cNvSpPr>
          <p:nvPr/>
        </p:nvSpPr>
        <p:spPr>
          <a:xfrm xmlns:a="http://schemas.openxmlformats.org/drawingml/2006/main">
            <a:off x="609600" y="574357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B3A"/>
                </a:solidFill>
                <a:latin typeface="Arial"/>
                <a:ea typeface="Arial"/>
                <a:cs typeface="Arial"/>
              </a:defRPr>
            </a:pPr>
            <a:r>
              <a:rPr sz="2175" b="1">
                <a:solidFill>
                  <a:srgbClr val="172B3A"/>
                </a:solidFill>
                <a:latin typeface="Arial"/>
                <a:ea typeface="Arial"/>
                <a:cs typeface="Arial"/>
              </a:rPr>
              <a:t>3  Guide the LLM with a location and strategy</a:t>
            </a:r>
          </a:p>
        </p:txBody>
      </p:sp>
    </p:spTree>
    <p:extLst>
      <p:ext uri="{BB962C8B-B14F-4D97-AF65-F5344CB8AC3E}">
        <p14:creationId xmlns:p14="http://schemas.microsoft.com/office/powerpoint/2010/main" val="21297279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539A3C1-1619-4FA2-88F8-49BEF2D9D3D6}"/>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Building the reusable library</a:t>
            </a:r>
          </a:p>
        </p:txBody>
      </p:sp>
      <p:sp>
        <p:nvSpPr>
          <p:cNvPr id="2" name="source">
            <a:extLst xmlns:a="http://schemas.openxmlformats.org/drawingml/2006/main">
              <a:ext uri="{FF2B5EF4-FFF2-40B4-BE49-F238E27FC236}">
                <a16:creationId xmlns:a16="http://schemas.microsoft.com/office/drawing/2014/main" id="{156022F9-CC51-47BD-A86B-496B747B2C94}"/>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10-13, Table 2</a:t>
            </a:r>
          </a:p>
        </p:txBody>
      </p:sp>
      <p:sp>
        <p:nvSpPr>
          <p:cNvPr id="3" name="page">
            <a:extLst xmlns:a="http://schemas.openxmlformats.org/drawingml/2006/main">
              <a:ext uri="{FF2B5EF4-FFF2-40B4-BE49-F238E27FC236}">
                <a16:creationId xmlns:a16="http://schemas.microsoft.com/office/drawing/2014/main" id="{286F5A69-487F-409A-88E6-7ECDA87D2E86}"/>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5</a:t>
            </a:r>
          </a:p>
        </p:txBody>
      </p:sp>
      <p:graphicFrame>
        <p:nvGraphicFramePr>
          <p:cNvPr id="12" name=""/>
          <p:cNvGraphicFramePr/>
          <p:nvPr/>
        </p:nvGraphicFramePr>
        <p:xfrm>
          <a:off xmlns:a="http://schemas.openxmlformats.org/drawingml/2006/main" x="609600" y="1504950"/>
          <a:ext xmlns:a="http://schemas.openxmlformats.org/drawingml/2006/main" cx="10972800" cy="1952625"/>
        </p:xfrm>
        <a:graphic xmlns:a="http://schemas.openxmlformats.org/drawingml/2006/main">
          <a:graphicData uri="http://schemas.openxmlformats.org/drawingml/2006/table">
            <a:tbl>
              <a:tblPr/>
              <a:tblGrid>
                <a:gridCol w="3619500"/>
                <a:gridCol w="3676650"/>
                <a:gridCol w="3676650"/>
              </a:tblGrid>
              <a:tr h="650875">
                <a:tc>
                  <a:txBody>
                    <a:bodyPr>
                      <a:noAutofit/>
                    </a:bodyPr>
                    <a:lstStyle/>
                    <a:p>
                      <a:r>
                        <a:rPr sz="2100" b="1">
                          <a:solidFill>
                            <a:srgbClr val="172B3A"/>
                          </a:solidFill>
                          <a:latin typeface="Arial"/>
                          <a:ea typeface="Arial"/>
                          <a:cs typeface="Arial"/>
                        </a:rPr>
                        <a:t>Library</a:t>
                      </a:r>
                    </a:p>
                  </a:txBody>
                  <a:tcPr marL="133350" marR="133350" marT="85725" marB="85725" anchor="ctr">
                    <a:solidFill>
                      <a:srgbClr val="F2F5F6"/>
                    </a:solidFill>
                  </a:tcPr>
                </a:tc>
                <a:tc>
                  <a:txBody>
                    <a:bodyPr>
                      <a:noAutofit/>
                    </a:bodyPr>
                    <a:lstStyle/>
                    <a:p>
                      <a:r>
                        <a:rPr sz="2100" b="1">
                          <a:solidFill>
                            <a:srgbClr val="172B3A"/>
                          </a:solidFill>
                          <a:latin typeface="Arial"/>
                          <a:ea typeface="Arial"/>
                          <a:cs typeface="Arial"/>
                        </a:rPr>
                        <a:t>Strategy clusters</a:t>
                      </a:r>
                    </a:p>
                  </a:txBody>
                  <a:tcPr marL="133350" marR="133350" marT="85725" marB="85725" anchor="ctr">
                    <a:solidFill>
                      <a:srgbClr val="F2F5F6"/>
                    </a:solidFill>
                  </a:tcPr>
                </a:tc>
                <a:tc>
                  <a:txBody>
                    <a:bodyPr>
                      <a:noAutofit/>
                    </a:bodyPr>
                    <a:lstStyle/>
                    <a:p>
                      <a:r>
                        <a:rPr sz="2100" b="1">
                          <a:solidFill>
                            <a:srgbClr val="172B3A"/>
                          </a:solidFill>
                          <a:latin typeface="Arial"/>
                          <a:ea typeface="Arial"/>
                          <a:cs typeface="Arial"/>
                        </a:rPr>
                        <a:t>Generated rules</a:t>
                      </a:r>
                    </a:p>
                  </a:txBody>
                  <a:tcPr marL="133350" marR="133350" marT="85725" marB="85725" anchor="ctr">
                    <a:solidFill>
                      <a:srgbClr val="F2F5F6"/>
                    </a:solidFill>
                  </a:tcPr>
                </a:tc>
              </a:tr>
              <a:tr h="650875">
                <a:tc>
                  <a:txBody>
                    <a:bodyPr>
                      <a:noAutofit/>
                    </a:bodyPr>
                    <a:lstStyle/>
                    <a:p>
                      <a:r>
                        <a:rPr sz="2100" b="0">
                          <a:solidFill>
                            <a:srgbClr val="26343D"/>
                          </a:solidFill>
                          <a:latin typeface="Arial"/>
                          <a:ea typeface="Arial"/>
                          <a:cs typeface="Arial"/>
                        </a:rPr>
                        <a:t>Python</a:t>
                      </a:r>
                    </a:p>
                  </a:txBody>
                  <a:tcPr marL="133350" marR="133350" marT="85725" marB="85725" anchor="ctr">
                    <a:solidFill>
                      <a:srgbClr val="FFFFFF"/>
                    </a:solidFill>
                  </a:tcPr>
                </a:tc>
                <a:tc>
                  <a:txBody>
                    <a:bodyPr>
                      <a:noAutofit/>
                    </a:bodyPr>
                    <a:lstStyle/>
                    <a:p>
                      <a:r>
                        <a:rPr sz="2100" b="0">
                          <a:solidFill>
                            <a:srgbClr val="26343D"/>
                          </a:solidFill>
                          <a:latin typeface="Arial"/>
                          <a:ea typeface="Arial"/>
                          <a:cs typeface="Arial"/>
                        </a:rPr>
                        <a:t>55</a:t>
                      </a:r>
                    </a:p>
                  </a:txBody>
                  <a:tcPr marL="133350" marR="133350" marT="85725" marB="85725" anchor="ctr">
                    <a:solidFill>
                      <a:srgbClr val="FFFFFF"/>
                    </a:solidFill>
                  </a:tcPr>
                </a:tc>
                <a:tc>
                  <a:txBody>
                    <a:bodyPr>
                      <a:noAutofit/>
                    </a:bodyPr>
                    <a:lstStyle/>
                    <a:p>
                      <a:r>
                        <a:rPr sz="2100" b="0">
                          <a:solidFill>
                            <a:srgbClr val="26343D"/>
                          </a:solidFill>
                          <a:latin typeface="Arial"/>
                          <a:ea typeface="Arial"/>
                          <a:cs typeface="Arial"/>
                        </a:rPr>
                        <a:t>2,097</a:t>
                      </a:r>
                    </a:p>
                  </a:txBody>
                  <a:tcPr marL="133350" marR="133350" marT="85725" marB="85725" anchor="ctr">
                    <a:solidFill>
                      <a:srgbClr val="FFFFFF"/>
                    </a:solidFill>
                  </a:tcPr>
                </a:tc>
              </a:tr>
              <a:tr h="650875">
                <a:tc>
                  <a:txBody>
                    <a:bodyPr>
                      <a:noAutofit/>
                    </a:bodyPr>
                    <a:lstStyle/>
                    <a:p>
                      <a:r>
                        <a:rPr sz="2100" b="0">
                          <a:solidFill>
                            <a:srgbClr val="26343D"/>
                          </a:solidFill>
                          <a:latin typeface="Arial"/>
                          <a:ea typeface="Arial"/>
                          <a:cs typeface="Arial"/>
                        </a:rPr>
                        <a:t>C/C++</a:t>
                      </a:r>
                    </a:p>
                  </a:txBody>
                  <a:tcPr marL="133350" marR="133350" marT="85725" marB="85725" anchor="ctr">
                    <a:solidFill>
                      <a:srgbClr val="FFFFFF"/>
                    </a:solidFill>
                  </a:tcPr>
                </a:tc>
                <a:tc>
                  <a:txBody>
                    <a:bodyPr>
                      <a:noAutofit/>
                    </a:bodyPr>
                    <a:lstStyle/>
                    <a:p>
                      <a:r>
                        <a:rPr sz="2100" b="0">
                          <a:solidFill>
                            <a:srgbClr val="26343D"/>
                          </a:solidFill>
                          <a:latin typeface="Arial"/>
                          <a:ea typeface="Arial"/>
                          <a:cs typeface="Arial"/>
                        </a:rPr>
                        <a:t>155</a:t>
                      </a:r>
                    </a:p>
                  </a:txBody>
                  <a:tcPr marL="133350" marR="133350" marT="85725" marB="85725" anchor="ctr">
                    <a:solidFill>
                      <a:srgbClr val="FFFFFF"/>
                    </a:solidFill>
                  </a:tcPr>
                </a:tc>
                <a:tc>
                  <a:txBody>
                    <a:bodyPr>
                      <a:noAutofit/>
                    </a:bodyPr>
                    <a:lstStyle/>
                    <a:p>
                      <a:r>
                        <a:rPr sz="2100" b="0">
                          <a:solidFill>
                            <a:srgbClr val="26343D"/>
                          </a:solidFill>
                          <a:latin typeface="Arial"/>
                          <a:ea typeface="Arial"/>
                          <a:cs typeface="Arial"/>
                        </a:rPr>
                        <a:t>5,057</a:t>
                      </a:r>
                    </a:p>
                  </a:txBody>
                  <a:tcPr marL="133350" marR="133350" marT="85725" marB="85725" anchor="ctr">
                    <a:solidFill>
                      <a:srgbClr val="FFFFFF"/>
                    </a:solidFill>
                  </a:tcPr>
                </a:tc>
              </a:tr>
            </a:tbl>
          </a:graphicData>
        </a:graphic>
      </p:graphicFrame>
      <p:sp>
        <p:nvSpPr>
          <p:cNvPr id="5" name="strategy-build-heading">
            <a:extLst xmlns:a="http://schemas.openxmlformats.org/drawingml/2006/main">
              <a:ext uri="{FF2B5EF4-FFF2-40B4-BE49-F238E27FC236}">
                <a16:creationId xmlns:a16="http://schemas.microsoft.com/office/drawing/2014/main" id="{C335210E-3D76-4E8C-93D6-E7A71F8CA30B}"/>
              </a:ext>
            </a:extLst>
          </p:cNvPr>
          <p:cNvSpPr>
            <a:spLocks xmlns:a="http://schemas.openxmlformats.org/drawingml/2006/main" noGrp="1"/>
          </p:cNvSpPr>
          <p:nvPr/>
        </p:nvSpPr>
        <p:spPr>
          <a:xfrm xmlns:a="http://schemas.openxmlformats.org/drawingml/2006/main">
            <a:off x="609600" y="3857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Strategy construction</a:t>
            </a:r>
          </a:p>
        </p:txBody>
      </p:sp>
      <p:sp>
        <p:nvSpPr>
          <p:cNvPr id="6" name="strategy-build-body">
            <a:extLst xmlns:a="http://schemas.openxmlformats.org/drawingml/2006/main">
              <a:ext uri="{FF2B5EF4-FFF2-40B4-BE49-F238E27FC236}">
                <a16:creationId xmlns:a16="http://schemas.microsoft.com/office/drawing/2014/main" id="{B9033A36-E7EA-47E0-A591-2B703A772F0B}"/>
              </a:ext>
            </a:extLst>
          </p:cNvPr>
          <p:cNvSpPr>
            <a:spLocks xmlns:a="http://schemas.openxmlformats.org/drawingml/2006/main" noGrp="1"/>
          </p:cNvSpPr>
          <p:nvPr/>
        </p:nvSpPr>
        <p:spPr>
          <a:xfrm xmlns:a="http://schemas.openxmlformats.org/drawingml/2006/main">
            <a:off x="609600" y="42767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Filter commits, summarize their optimization, then cluster similar summaries.</a:t>
            </a:r>
          </a:p>
        </p:txBody>
      </p:sp>
      <p:sp>
        <p:nvSpPr>
          <p:cNvPr id="7" name="rule-build-heading">
            <a:extLst xmlns:a="http://schemas.openxmlformats.org/drawingml/2006/main">
              <a:ext uri="{FF2B5EF4-FFF2-40B4-BE49-F238E27FC236}">
                <a16:creationId xmlns:a16="http://schemas.microsoft.com/office/drawing/2014/main" id="{D06C38BC-6CC5-4D19-90BE-763173D0F9E5}"/>
              </a:ext>
            </a:extLst>
          </p:cNvPr>
          <p:cNvSpPr>
            <a:spLocks xmlns:a="http://schemas.openxmlformats.org/drawingml/2006/main" noGrp="1"/>
          </p:cNvSpPr>
          <p:nvPr/>
        </p:nvSpPr>
        <p:spPr>
          <a:xfrm xmlns:a="http://schemas.openxmlformats.org/drawingml/2006/main">
            <a:off x="609600" y="5048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Rule construction</a:t>
            </a:r>
          </a:p>
        </p:txBody>
      </p:sp>
      <p:sp>
        <p:nvSpPr>
          <p:cNvPr id="8" name="rule-build-body">
            <a:extLst xmlns:a="http://schemas.openxmlformats.org/drawingml/2006/main">
              <a:ext uri="{FF2B5EF4-FFF2-40B4-BE49-F238E27FC236}">
                <a16:creationId xmlns:a16="http://schemas.microsoft.com/office/drawing/2014/main" id="{FEFBB11E-4C1C-481B-9645-26068383D19E}"/>
              </a:ext>
            </a:extLst>
          </p:cNvPr>
          <p:cNvSpPr>
            <a:spLocks xmlns:a="http://schemas.openxmlformats.org/drawingml/2006/main" noGrp="1"/>
          </p:cNvSpPr>
          <p:nvPr/>
        </p:nvSpPr>
        <p:spPr>
          <a:xfrm xmlns:a="http://schemas.openxmlformats.org/drawingml/2006/main">
            <a:off x="609600" y="54673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Sample up to 10 commits per cluster and make 5 generation attempts per commit. Repair rules until they execute.</a:t>
            </a:r>
          </a:p>
        </p:txBody>
      </p:sp>
    </p:spTree>
    <p:extLst>
      <p:ext uri="{BB962C8B-B14F-4D97-AF65-F5344CB8AC3E}">
        <p14:creationId xmlns:p14="http://schemas.microsoft.com/office/powerpoint/2010/main" val="19726928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ABABCABB-0883-454B-A4C9-C224B62BD451}"/>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Selecting a location and strategy</a:t>
            </a:r>
          </a:p>
        </p:txBody>
      </p:sp>
      <p:sp>
        <p:nvSpPr>
          <p:cNvPr id="2" name="source">
            <a:extLst xmlns:a="http://schemas.openxmlformats.org/drawingml/2006/main">
              <a:ext uri="{FF2B5EF4-FFF2-40B4-BE49-F238E27FC236}">
                <a16:creationId xmlns:a16="http://schemas.microsoft.com/office/drawing/2014/main" id="{0C062D84-8FD3-4F2D-9F19-8C053C52C069}"/>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13-16 and p. 30</a:t>
            </a:r>
          </a:p>
        </p:txBody>
      </p:sp>
      <p:sp>
        <p:nvSpPr>
          <p:cNvPr id="3" name="page">
            <a:extLst xmlns:a="http://schemas.openxmlformats.org/drawingml/2006/main">
              <a:ext uri="{FF2B5EF4-FFF2-40B4-BE49-F238E27FC236}">
                <a16:creationId xmlns:a16="http://schemas.microsoft.com/office/drawing/2014/main" id="{36CB6539-3752-4FF8-97B4-31716C39950D}"/>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6</a:t>
            </a:r>
          </a:p>
        </p:txBody>
      </p:sp>
      <p:sp>
        <p:nvSpPr>
          <p:cNvPr id="4" name="step-1">
            <a:extLst xmlns:a="http://schemas.openxmlformats.org/drawingml/2006/main">
              <a:ext uri="{FF2B5EF4-FFF2-40B4-BE49-F238E27FC236}">
                <a16:creationId xmlns:a16="http://schemas.microsoft.com/office/drawing/2014/main" id="{22277492-DA6E-4B44-9EF0-4D9C646835D5}"/>
              </a:ext>
            </a:extLst>
          </p:cNvPr>
          <p:cNvSpPr>
            <a:spLocks xmlns:a="http://schemas.openxmlformats.org/drawingml/2006/main" noGrp="1"/>
          </p:cNvSpPr>
          <p:nvPr/>
        </p:nvSpPr>
        <p:spPr>
          <a:xfrm xmlns:a="http://schemas.openxmlformats.org/drawingml/2006/main">
            <a:off x="609600" y="1543050"/>
            <a:ext cx="523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66B78"/>
                </a:solidFill>
                <a:latin typeface="Arial"/>
                <a:ea typeface="Arial"/>
                <a:cs typeface="Arial"/>
              </a:defRPr>
            </a:pPr>
            <a:r>
              <a:rPr sz="3150" b="1">
                <a:solidFill>
                  <a:srgbClr val="166B78"/>
                </a:solidFill>
                <a:latin typeface="Arial"/>
                <a:ea typeface="Arial"/>
                <a:cs typeface="Arial"/>
              </a:rPr>
              <a:t>1</a:t>
            </a:r>
          </a:p>
        </p:txBody>
      </p:sp>
      <p:sp>
        <p:nvSpPr>
          <p:cNvPr id="5" name="rank-1-heading">
            <a:extLst xmlns:a="http://schemas.openxmlformats.org/drawingml/2006/main">
              <a:ext uri="{FF2B5EF4-FFF2-40B4-BE49-F238E27FC236}">
                <a16:creationId xmlns:a16="http://schemas.microsoft.com/office/drawing/2014/main" id="{FD5A8336-661B-46F4-A43E-DAEE1A8C8CE1}"/>
              </a:ext>
            </a:extLst>
          </p:cNvPr>
          <p:cNvSpPr>
            <a:spLocks xmlns:a="http://schemas.openxmlformats.org/drawingml/2006/main" noGrp="1"/>
          </p:cNvSpPr>
          <p:nvPr/>
        </p:nvSpPr>
        <p:spPr>
          <a:xfrm xmlns:a="http://schemas.openxmlformats.org/drawingml/2006/main">
            <a:off x="1400175" y="152400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Scan the function</a:t>
            </a:r>
          </a:p>
        </p:txBody>
      </p:sp>
      <p:sp>
        <p:nvSpPr>
          <p:cNvPr id="6" name="rank-1-body">
            <a:extLst xmlns:a="http://schemas.openxmlformats.org/drawingml/2006/main">
              <a:ext uri="{FF2B5EF4-FFF2-40B4-BE49-F238E27FC236}">
                <a16:creationId xmlns:a16="http://schemas.microsoft.com/office/drawing/2014/main" id="{21F31BC5-108A-478C-9BCF-21109C8855A3}"/>
              </a:ext>
            </a:extLst>
          </p:cNvPr>
          <p:cNvSpPr>
            <a:spLocks xmlns:a="http://schemas.openxmlformats.org/drawingml/2006/main" noGrp="1"/>
          </p:cNvSpPr>
          <p:nvPr/>
        </p:nvSpPr>
        <p:spPr>
          <a:xfrm xmlns:a="http://schemas.openxmlformats.org/drawingml/2006/main">
            <a:off x="1400175" y="194310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Each match identifies a location and a possible strategy.</a:t>
            </a:r>
          </a:p>
        </p:txBody>
      </p:sp>
      <p:sp>
        <p:nvSpPr>
          <p:cNvPr id="7" name="step-2">
            <a:extLst xmlns:a="http://schemas.openxmlformats.org/drawingml/2006/main">
              <a:ext uri="{FF2B5EF4-FFF2-40B4-BE49-F238E27FC236}">
                <a16:creationId xmlns:a16="http://schemas.microsoft.com/office/drawing/2014/main" id="{2B4171C3-416D-4F6D-93E8-87998C3B79BD}"/>
              </a:ext>
            </a:extLst>
          </p:cNvPr>
          <p:cNvSpPr>
            <a:spLocks xmlns:a="http://schemas.openxmlformats.org/drawingml/2006/main" noGrp="1"/>
          </p:cNvSpPr>
          <p:nvPr/>
        </p:nvSpPr>
        <p:spPr>
          <a:xfrm xmlns:a="http://schemas.openxmlformats.org/drawingml/2006/main">
            <a:off x="609600" y="2857500"/>
            <a:ext cx="523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66B78"/>
                </a:solidFill>
                <a:latin typeface="Arial"/>
                <a:ea typeface="Arial"/>
                <a:cs typeface="Arial"/>
              </a:defRPr>
            </a:pPr>
            <a:r>
              <a:rPr sz="3150" b="1">
                <a:solidFill>
                  <a:srgbClr val="166B78"/>
                </a:solidFill>
                <a:latin typeface="Arial"/>
                <a:ea typeface="Arial"/>
                <a:cs typeface="Arial"/>
              </a:rPr>
              <a:t>2</a:t>
            </a:r>
          </a:p>
        </p:txBody>
      </p:sp>
      <p:sp>
        <p:nvSpPr>
          <p:cNvPr id="8" name="rank-2-heading">
            <a:extLst xmlns:a="http://schemas.openxmlformats.org/drawingml/2006/main">
              <a:ext uri="{FF2B5EF4-FFF2-40B4-BE49-F238E27FC236}">
                <a16:creationId xmlns:a16="http://schemas.microsoft.com/office/drawing/2014/main" id="{40790A18-3733-4421-AD5F-65946A2DF1EB}"/>
              </a:ext>
            </a:extLst>
          </p:cNvPr>
          <p:cNvSpPr>
            <a:spLocks xmlns:a="http://schemas.openxmlformats.org/drawingml/2006/main" noGrp="1"/>
          </p:cNvSpPr>
          <p:nvPr/>
        </p:nvSpPr>
        <p:spPr>
          <a:xfrm xmlns:a="http://schemas.openxmlformats.org/drawingml/2006/main">
            <a:off x="1400175" y="283845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Combine repeated matches</a:t>
            </a:r>
          </a:p>
        </p:txBody>
      </p:sp>
      <p:sp>
        <p:nvSpPr>
          <p:cNvPr id="9" name="rank-2-body">
            <a:extLst xmlns:a="http://schemas.openxmlformats.org/drawingml/2006/main">
              <a:ext uri="{FF2B5EF4-FFF2-40B4-BE49-F238E27FC236}">
                <a16:creationId xmlns:a16="http://schemas.microsoft.com/office/drawing/2014/main" id="{51F6DCDD-961B-481C-87F0-3B660028E941}"/>
              </a:ext>
            </a:extLst>
          </p:cNvPr>
          <p:cNvSpPr>
            <a:spLocks xmlns:a="http://schemas.openxmlformats.org/drawingml/2006/main" noGrp="1"/>
          </p:cNvSpPr>
          <p:nvPr/>
        </p:nvSpPr>
        <p:spPr>
          <a:xfrm xmlns:a="http://schemas.openxmlformats.org/drawingml/2006/main">
            <a:off x="1400175" y="325755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Count rules supporting the same location-strategy pair.</a:t>
            </a:r>
          </a:p>
        </p:txBody>
      </p:sp>
      <p:sp>
        <p:nvSpPr>
          <p:cNvPr id="10" name="step-3">
            <a:extLst xmlns:a="http://schemas.openxmlformats.org/drawingml/2006/main">
              <a:ext uri="{FF2B5EF4-FFF2-40B4-BE49-F238E27FC236}">
                <a16:creationId xmlns:a16="http://schemas.microsoft.com/office/drawing/2014/main" id="{DE68E6D5-4946-4662-89E1-2D95866A7643}"/>
              </a:ext>
            </a:extLst>
          </p:cNvPr>
          <p:cNvSpPr>
            <a:spLocks xmlns:a="http://schemas.openxmlformats.org/drawingml/2006/main" noGrp="1"/>
          </p:cNvSpPr>
          <p:nvPr/>
        </p:nvSpPr>
        <p:spPr>
          <a:xfrm xmlns:a="http://schemas.openxmlformats.org/drawingml/2006/main">
            <a:off x="609600" y="4171950"/>
            <a:ext cx="523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66B78"/>
                </a:solidFill>
                <a:latin typeface="Arial"/>
                <a:ea typeface="Arial"/>
                <a:cs typeface="Arial"/>
              </a:defRPr>
            </a:pPr>
            <a:r>
              <a:rPr sz="3150" b="1">
                <a:solidFill>
                  <a:srgbClr val="166B78"/>
                </a:solidFill>
                <a:latin typeface="Arial"/>
                <a:ea typeface="Arial"/>
                <a:cs typeface="Arial"/>
              </a:rPr>
              <a:t>3</a:t>
            </a:r>
          </a:p>
        </p:txBody>
      </p:sp>
      <p:sp>
        <p:nvSpPr>
          <p:cNvPr id="11" name="rank-3-heading">
            <a:extLst xmlns:a="http://schemas.openxmlformats.org/drawingml/2006/main">
              <a:ext uri="{FF2B5EF4-FFF2-40B4-BE49-F238E27FC236}">
                <a16:creationId xmlns:a16="http://schemas.microsoft.com/office/drawing/2014/main" id="{633E48FA-D01B-4670-952B-C7DB80081F37}"/>
              </a:ext>
            </a:extLst>
          </p:cNvPr>
          <p:cNvSpPr>
            <a:spLocks xmlns:a="http://schemas.openxmlformats.org/drawingml/2006/main" noGrp="1"/>
          </p:cNvSpPr>
          <p:nvPr/>
        </p:nvSpPr>
        <p:spPr>
          <a:xfrm xmlns:a="http://schemas.openxmlformats.org/drawingml/2006/main">
            <a:off x="1400175" y="415290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Keep the top 25 proposals</a:t>
            </a:r>
          </a:p>
        </p:txBody>
      </p:sp>
      <p:sp>
        <p:nvSpPr>
          <p:cNvPr id="12" name="rank-3-body">
            <a:extLst xmlns:a="http://schemas.openxmlformats.org/drawingml/2006/main">
              <a:ext uri="{FF2B5EF4-FFF2-40B4-BE49-F238E27FC236}">
                <a16:creationId xmlns:a16="http://schemas.microsoft.com/office/drawing/2014/main" id="{9D475F46-02D1-4700-821A-90FE8F7A68B9}"/>
              </a:ext>
            </a:extLst>
          </p:cNvPr>
          <p:cNvSpPr>
            <a:spLocks xmlns:a="http://schemas.openxmlformats.org/drawingml/2006/main" noGrp="1"/>
          </p:cNvSpPr>
          <p:nvPr/>
        </p:nvSpPr>
        <p:spPr>
          <a:xfrm xmlns:a="http://schemas.openxmlformats.org/drawingml/2006/main">
            <a:off x="1400175" y="457200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Use the full function, location, and strategy to prompt the LLM.</a:t>
            </a:r>
          </a:p>
        </p:txBody>
      </p:sp>
      <p:sp>
        <p:nvSpPr>
          <p:cNvPr id="13" name="ranking-boundary">
            <a:extLst xmlns:a="http://schemas.openxmlformats.org/drawingml/2006/main">
              <a:ext uri="{FF2B5EF4-FFF2-40B4-BE49-F238E27FC236}">
                <a16:creationId xmlns:a16="http://schemas.microsoft.com/office/drawing/2014/main" id="{11F931AB-CAC2-445A-ADF0-4201B1EF7150}"/>
              </a:ext>
            </a:extLst>
          </p:cNvPr>
          <p:cNvSpPr>
            <a:spLocks xmlns:a="http://schemas.openxmlformats.org/drawingml/2006/main" noGrp="1"/>
          </p:cNvSpPr>
          <p:nvPr/>
        </p:nvSpPr>
        <p:spPr>
          <a:xfrm xmlns:a="http://schemas.openxmlformats.org/drawingml/2006/main">
            <a:off x="609600" y="56864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B3A"/>
                </a:solidFill>
                <a:latin typeface="Arial"/>
                <a:ea typeface="Arial"/>
                <a:cs typeface="Arial"/>
              </a:defRPr>
            </a:pPr>
            <a:r>
              <a:rPr sz="2025" b="1">
                <a:solidFill>
                  <a:srgbClr val="172B3A"/>
                </a:solidFill>
                <a:latin typeface="Arial"/>
                <a:ea typeface="Arial"/>
                <a:cs typeface="Arial"/>
              </a:rPr>
              <a:t>Rule support is a ranking signal. Validation still determines whether to keep an edit.</a:t>
            </a:r>
          </a:p>
        </p:txBody>
      </p:sp>
    </p:spTree>
    <p:extLst>
      <p:ext uri="{BB962C8B-B14F-4D97-AF65-F5344CB8AC3E}">
        <p14:creationId xmlns:p14="http://schemas.microsoft.com/office/powerpoint/2010/main" val="11921744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82205C8-CE09-4E08-96E6-F5FB73EB1B46}"/>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The paper uses two evaluation regimes</a:t>
            </a:r>
          </a:p>
        </p:txBody>
      </p:sp>
      <p:sp>
        <p:nvSpPr>
          <p:cNvPr id="2" name="source">
            <a:extLst xmlns:a="http://schemas.openxmlformats.org/drawingml/2006/main">
              <a:ext uri="{FF2B5EF4-FFF2-40B4-BE49-F238E27FC236}">
                <a16:creationId xmlns:a16="http://schemas.microsoft.com/office/drawing/2014/main" id="{0EEC9BBF-2C9B-4E6E-9F55-DF927FF8C35F}"/>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16-18 and pp. 31-34</a:t>
            </a:r>
          </a:p>
        </p:txBody>
      </p:sp>
      <p:sp>
        <p:nvSpPr>
          <p:cNvPr id="3" name="page">
            <a:extLst xmlns:a="http://schemas.openxmlformats.org/drawingml/2006/main">
              <a:ext uri="{FF2B5EF4-FFF2-40B4-BE49-F238E27FC236}">
                <a16:creationId xmlns:a16="http://schemas.microsoft.com/office/drawing/2014/main" id="{80EBC5EE-47F6-4F10-8A21-EEB04EEA2A56}"/>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7</a:t>
            </a:r>
          </a:p>
        </p:txBody>
      </p:sp>
      <p:graphicFrame>
        <p:nvGraphicFramePr>
          <p:cNvPr id="9" name=""/>
          <p:cNvGraphicFramePr/>
          <p:nvPr/>
        </p:nvGraphicFramePr>
        <p:xfrm>
          <a:off xmlns:a="http://schemas.openxmlformats.org/drawingml/2006/main" x="609600" y="1514475"/>
          <a:ext xmlns:a="http://schemas.openxmlformats.org/drawingml/2006/main" cx="10972800" cy="3438525"/>
        </p:xfrm>
        <a:graphic xmlns:a="http://schemas.openxmlformats.org/drawingml/2006/main">
          <a:graphicData uri="http://schemas.openxmlformats.org/drawingml/2006/table">
            <a:tbl>
              <a:tblPr/>
              <a:tblGrid>
                <a:gridCol w="2019300"/>
                <a:gridCol w="4476750"/>
                <a:gridCol w="4476750"/>
              </a:tblGrid>
              <a:tr h="859631">
                <a:tc>
                  <a:txBody>
                    <a:bodyPr>
                      <a:noAutofit/>
                    </a:bodyPr>
                    <a:lstStyle/>
                    <a:p>
                      <a:r>
                        <a:rPr sz="1875" b="1">
                          <a:solidFill>
                            <a:srgbClr val="172B3A"/>
                          </a:solidFill>
                          <a:latin typeface="Arial"/>
                          <a:ea typeface="Arial"/>
                          <a:cs typeface="Arial"/>
                        </a:rPr>
                        <a:t/>
                      </a:r>
                    </a:p>
                  </a:txBody>
                  <a:tcPr marL="133350" marR="133350" marT="85725" marB="85725" anchor="ctr">
                    <a:solidFill>
                      <a:srgbClr val="F2F5F6"/>
                    </a:solidFill>
                  </a:tcPr>
                </a:tc>
                <a:tc>
                  <a:txBody>
                    <a:bodyPr>
                      <a:noAutofit/>
                    </a:bodyPr>
                    <a:lstStyle/>
                    <a:p>
                      <a:r>
                        <a:rPr sz="1875" b="1">
                          <a:solidFill>
                            <a:srgbClr val="172B3A"/>
                          </a:solidFill>
                          <a:latin typeface="Arial"/>
                          <a:ea typeface="Arial"/>
                          <a:cs typeface="Arial"/>
                        </a:rPr>
                        <a:t>Historical edits</a:t>
                      </a:r>
                    </a:p>
                  </a:txBody>
                  <a:tcPr marL="133350" marR="133350" marT="85725" marB="85725" anchor="ctr">
                    <a:solidFill>
                      <a:srgbClr val="F2F5F6"/>
                    </a:solidFill>
                  </a:tcPr>
                </a:tc>
                <a:tc>
                  <a:txBody>
                    <a:bodyPr>
                      <a:noAutofit/>
                    </a:bodyPr>
                    <a:lstStyle/>
                    <a:p>
                      <a:r>
                        <a:rPr sz="1875" b="1">
                          <a:solidFill>
                            <a:srgbClr val="172B3A"/>
                          </a:solidFill>
                          <a:latin typeface="Arial"/>
                          <a:ea typeface="Arial"/>
                          <a:cs typeface="Arial"/>
                        </a:rPr>
                        <a:t>Project performance</a:t>
                      </a:r>
                    </a:p>
                  </a:txBody>
                  <a:tcPr marL="133350" marR="133350" marT="85725" marB="85725" anchor="ctr">
                    <a:solidFill>
                      <a:srgbClr val="F2F5F6"/>
                    </a:solidFill>
                  </a:tcPr>
                </a:tc>
              </a:tr>
              <a:tr h="859631">
                <a:tc>
                  <a:txBody>
                    <a:bodyPr>
                      <a:noAutofit/>
                    </a:bodyPr>
                    <a:lstStyle/>
                    <a:p>
                      <a:r>
                        <a:rPr sz="1875" b="0">
                          <a:solidFill>
                            <a:srgbClr val="26343D"/>
                          </a:solidFill>
                          <a:latin typeface="Arial"/>
                          <a:ea typeface="Arial"/>
                          <a:cs typeface="Arial"/>
                        </a:rPr>
                        <a:t>Population</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151 C/C++ tasks</a:t>
                      </a:r>
                    </a:p>
                    <a:p>
                      <a:r>
                        <a:rPr sz="1875" b="0">
                          <a:solidFill>
                            <a:srgbClr val="26343D"/>
                          </a:solidFill>
                          <a:latin typeface="Arial"/>
                          <a:ea typeface="Arial"/>
                          <a:cs typeface="Arial"/>
                        </a:rPr>
                        <a:t>150 Python tasks</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5 C/C++ projects</a:t>
                      </a:r>
                    </a:p>
                    <a:p>
                      <a:r>
                        <a:rPr sz="1875" b="0">
                          <a:solidFill>
                            <a:srgbClr val="26343D"/>
                          </a:solidFill>
                          <a:latin typeface="Arial"/>
                          <a:ea typeface="Arial"/>
                          <a:cs typeface="Arial"/>
                        </a:rPr>
                        <a:t>5 Python projects</a:t>
                      </a:r>
                    </a:p>
                  </a:txBody>
                  <a:tcPr marL="133350" marR="133350" marT="85725" marB="85725" anchor="ctr">
                    <a:solidFill>
                      <a:srgbClr val="FFFFFF"/>
                    </a:solidFill>
                  </a:tcPr>
                </a:tc>
              </a:tr>
              <a:tr h="859631">
                <a:tc>
                  <a:txBody>
                    <a:bodyPr>
                      <a:noAutofit/>
                    </a:bodyPr>
                    <a:lstStyle/>
                    <a:p>
                      <a:r>
                        <a:rPr sz="1875" b="0">
                          <a:solidFill>
                            <a:srgbClr val="26343D"/>
                          </a:solidFill>
                          <a:latin typeface="Arial"/>
                          <a:ea typeface="Arial"/>
                          <a:cs typeface="Arial"/>
                        </a:rPr>
                        <a:t>Outcome</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At least one candidate matches</a:t>
                      </a:r>
                    </a:p>
                    <a:p>
                      <a:r>
                        <a:rPr sz="1875" b="0">
                          <a:solidFill>
                            <a:srgbClr val="26343D"/>
                          </a:solidFill>
                          <a:latin typeface="Arial"/>
                          <a:ea typeface="Arial"/>
                          <a:cs typeface="Arial"/>
                        </a:rPr>
                        <a:t>the developer edit</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Tests pass and measured</a:t>
                      </a:r>
                    </a:p>
                    <a:p>
                      <a:r>
                        <a:rPr sz="1875" b="0">
                          <a:solidFill>
                            <a:srgbClr val="26343D"/>
                          </a:solidFill>
                          <a:latin typeface="Arial"/>
                          <a:ea typeface="Arial"/>
                          <a:cs typeface="Arial"/>
                        </a:rPr>
                        <a:t>performance improves</a:t>
                      </a:r>
                    </a:p>
                  </a:txBody>
                  <a:tcPr marL="133350" marR="133350" marT="85725" marB="85725" anchor="ctr">
                    <a:solidFill>
                      <a:srgbClr val="FFFFFF"/>
                    </a:solidFill>
                  </a:tcPr>
                </a:tc>
              </a:tr>
              <a:tr h="859631">
                <a:tc>
                  <a:txBody>
                    <a:bodyPr>
                      <a:noAutofit/>
                    </a:bodyPr>
                    <a:lstStyle/>
                    <a:p>
                      <a:r>
                        <a:rPr sz="1875" b="0">
                          <a:solidFill>
                            <a:srgbClr val="26343D"/>
                          </a:solidFill>
                          <a:latin typeface="Arial"/>
                          <a:ea typeface="Arial"/>
                          <a:cs typeface="Arial"/>
                        </a:rPr>
                        <a:t>Interpretation</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Recovery of reference-like edits</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Benefit on the measured</a:t>
                      </a:r>
                    </a:p>
                    <a:p>
                      <a:r>
                        <a:rPr sz="1875" b="0">
                          <a:solidFill>
                            <a:srgbClr val="26343D"/>
                          </a:solidFill>
                          <a:latin typeface="Arial"/>
                          <a:ea typeface="Arial"/>
                          <a:cs typeface="Arial"/>
                        </a:rPr>
                        <a:t>project workloads</a:t>
                      </a:r>
                    </a:p>
                  </a:txBody>
                  <a:tcPr marL="133350" marR="133350" marT="85725" marB="85725" anchor="ctr">
                    <a:solidFill>
                      <a:srgbClr val="FFFFFF"/>
                    </a:solidFill>
                  </a:tcPr>
                </a:tc>
              </a:tr>
            </a:tbl>
          </a:graphicData>
        </a:graphic>
      </p:graphicFrame>
      <p:sp>
        <p:nvSpPr>
          <p:cNvPr id="5" name="language-scope">
            <a:extLst xmlns:a="http://schemas.openxmlformats.org/drawingml/2006/main">
              <a:ext uri="{FF2B5EF4-FFF2-40B4-BE49-F238E27FC236}">
                <a16:creationId xmlns:a16="http://schemas.microsoft.com/office/drawing/2014/main" id="{EC8D6C7B-BD5A-40D4-9330-C23418ED816F}"/>
              </a:ext>
            </a:extLst>
          </p:cNvPr>
          <p:cNvSpPr>
            <a:spLocks xmlns:a="http://schemas.openxmlformats.org/drawingml/2006/main" noGrp="1"/>
          </p:cNvSpPr>
          <p:nvPr/>
        </p:nvSpPr>
        <p:spPr>
          <a:xfrm xmlns:a="http://schemas.openxmlformats.org/drawingml/2006/main">
            <a:off x="609600" y="53149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B3A"/>
                </a:solidFill>
                <a:latin typeface="Arial"/>
                <a:ea typeface="Arial"/>
                <a:cs typeface="Arial"/>
              </a:defRPr>
            </a:pPr>
            <a:r>
              <a:rPr sz="2025" b="1">
                <a:solidFill>
                  <a:srgbClr val="172B3A"/>
                </a:solidFill>
                <a:latin typeface="Arial"/>
                <a:ea typeface="Arial"/>
                <a:cs typeface="Arial"/>
              </a:rPr>
              <a:t>Python benchmark: DeepSeek-V3 only.</a:t>
            </a:r>
          </a:p>
          <a:p xmlns:a="http://schemas.openxmlformats.org/drawingml/2006/main">
            <a:pPr algn="l">
              <a:defRPr sz="2025" b="1">
                <a:solidFill>
                  <a:srgbClr val="172B3A"/>
                </a:solidFill>
                <a:latin typeface="Arial"/>
                <a:ea typeface="Arial"/>
                <a:cs typeface="Arial"/>
              </a:defRPr>
            </a:pPr>
            <a:r>
              <a:rPr sz="2025" b="1">
                <a:solidFill>
                  <a:srgbClr val="172B3A"/>
                </a:solidFill>
                <a:latin typeface="Arial"/>
                <a:ea typeface="Arial"/>
                <a:cs typeface="Arial"/>
              </a:rPr>
              <a:t>Ablations and other diagnostic studies: C/C++ only.</a:t>
            </a:r>
          </a:p>
        </p:txBody>
      </p:sp>
    </p:spTree>
    <p:extLst>
      <p:ext uri="{BB962C8B-B14F-4D97-AF65-F5344CB8AC3E}">
        <p14:creationId xmlns:p14="http://schemas.microsoft.com/office/powerpoint/2010/main" val="18874072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A0E82CB-AA33-416D-9FD1-337EFE52C339}"/>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Python results: 69 of 150 tasks</a:t>
            </a:r>
          </a:p>
        </p:txBody>
      </p:sp>
      <p:sp>
        <p:nvSpPr>
          <p:cNvPr id="2" name="source">
            <a:extLst xmlns:a="http://schemas.openxmlformats.org/drawingml/2006/main">
              <a:ext uri="{FF2B5EF4-FFF2-40B4-BE49-F238E27FC236}">
                <a16:creationId xmlns:a16="http://schemas.microsoft.com/office/drawing/2014/main" id="{14DEDECF-4D75-4994-A8FD-C5F3DD76E811}"/>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18, 21, 24. SemOpt + RAG combines outputs and uses additional candidates.</a:t>
            </a:r>
          </a:p>
        </p:txBody>
      </p:sp>
      <p:sp>
        <p:nvSpPr>
          <p:cNvPr id="3" name="page">
            <a:extLst xmlns:a="http://schemas.openxmlformats.org/drawingml/2006/main">
              <a:ext uri="{FF2B5EF4-FFF2-40B4-BE49-F238E27FC236}">
                <a16:creationId xmlns:a16="http://schemas.microsoft.com/office/drawing/2014/main" id="{DAE45FE2-BA51-4EF0-9B13-1F162184A2AC}"/>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8</a:t>
            </a:r>
          </a:p>
        </p:txBody>
      </p:sp>
      <p:sp>
        <p:nvSpPr>
          <p:cNvPr id="4" name="metric">
            <a:extLst xmlns:a="http://schemas.openxmlformats.org/drawingml/2006/main">
              <a:ext uri="{FF2B5EF4-FFF2-40B4-BE49-F238E27FC236}">
                <a16:creationId xmlns:a16="http://schemas.microsoft.com/office/drawing/2014/main" id="{0645B01A-074C-40E6-BD87-DD87E8F2A3D6}"/>
              </a:ext>
            </a:extLst>
          </p:cNvPr>
          <p:cNvSpPr>
            <a:spLocks xmlns:a="http://schemas.openxmlformats.org/drawingml/2006/main" noGrp="1"/>
          </p:cNvSpPr>
          <p:nvPr/>
        </p:nvSpPr>
        <p:spPr>
          <a:xfrm xmlns:a="http://schemas.openxmlformats.org/drawingml/2006/main">
            <a:off x="609600" y="13239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Tasks with at least one reference-equivalent candidate, DeepSeek-V3</a:t>
            </a:r>
          </a:p>
        </p:txBody>
      </p:sp>
      <p:graphicFrame>
        <p:nvGraphicFramePr>
          <p:cNvPr id="13" name="Chart"/>
          <p:cNvGraphicFramePr/>
          <p:nvPr/>
        </p:nvGraphicFramePr>
        <p:xfrm>
          <a:off xmlns:a="http://schemas.openxmlformats.org/drawingml/2006/main" x="609600" y="1876425"/>
          <a:ext xmlns:a="http://schemas.openxmlformats.org/drawingml/2006/main" cx="8667750" cy="3819525"/>
        </p:xfrm>
        <a:graphic xmlns:a="http://schemas.openxmlformats.org/drawingml/2006/main">
          <a:graphicData uri="http://schemas.openxmlformats.org/drawingml/2006/chart">
            <c:chart xmlns:r="http://schemas.openxmlformats.org/officeDocument/2006/relationships" xmlns:c="http://schemas.openxmlformats.org/drawingml/2006/chart" r:id="R271feaba24834a5f"/>
          </a:graphicData>
        </a:graphic>
      </p:graphicFrame>
      <p:sp>
        <p:nvSpPr>
          <p:cNvPr id="6" name="main-rate">
            <a:extLst xmlns:a="http://schemas.openxmlformats.org/drawingml/2006/main">
              <a:ext uri="{FF2B5EF4-FFF2-40B4-BE49-F238E27FC236}">
                <a16:creationId xmlns:a16="http://schemas.microsoft.com/office/drawing/2014/main" id="{DB7BFF12-7229-4A42-9B50-8BB8179138BF}"/>
              </a:ext>
            </a:extLst>
          </p:cNvPr>
          <p:cNvSpPr>
            <a:spLocks xmlns:a="http://schemas.openxmlformats.org/drawingml/2006/main" noGrp="1"/>
          </p:cNvSpPr>
          <p:nvPr/>
        </p:nvSpPr>
        <p:spPr>
          <a:xfrm xmlns:a="http://schemas.openxmlformats.org/drawingml/2006/main">
            <a:off x="9629775" y="2257425"/>
            <a:ext cx="1952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66B78"/>
                </a:solidFill>
                <a:latin typeface="Arial"/>
                <a:ea typeface="Arial"/>
                <a:cs typeface="Arial"/>
              </a:defRPr>
            </a:pPr>
            <a:r>
              <a:rPr sz="3525" b="1">
                <a:solidFill>
                  <a:srgbClr val="166B78"/>
                </a:solidFill>
                <a:latin typeface="Arial"/>
                <a:ea typeface="Arial"/>
                <a:cs typeface="Arial"/>
              </a:rPr>
              <a:t>46.00%</a:t>
            </a:r>
          </a:p>
        </p:txBody>
      </p:sp>
      <p:sp>
        <p:nvSpPr>
          <p:cNvPr id="7" name="comparison">
            <a:extLst xmlns:a="http://schemas.openxmlformats.org/drawingml/2006/main">
              <a:ext uri="{FF2B5EF4-FFF2-40B4-BE49-F238E27FC236}">
                <a16:creationId xmlns:a16="http://schemas.microsoft.com/office/drawing/2014/main" id="{DE73F89F-1D05-4177-9AC1-D9E05D836D40}"/>
              </a:ext>
            </a:extLst>
          </p:cNvPr>
          <p:cNvSpPr>
            <a:spLocks xmlns:a="http://schemas.openxmlformats.org/drawingml/2006/main" noGrp="1"/>
          </p:cNvSpPr>
          <p:nvPr/>
        </p:nvSpPr>
        <p:spPr>
          <a:xfrm xmlns:a="http://schemas.openxmlformats.org/drawingml/2006/main">
            <a:off x="9629775" y="3000375"/>
            <a:ext cx="1952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SemOpt</a:t>
            </a:r>
          </a:p>
          <a:p xmlns:a="http://schemas.openxmlformats.org/drawingml/2006/main">
            <a:r>
              <a:t/>
            </a:r>
          </a:p>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28.67%</a:t>
            </a:r>
          </a:p>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RAG</a:t>
            </a:r>
          </a:p>
        </p:txBody>
      </p:sp>
      <p:sp>
        <p:nvSpPr>
          <p:cNvPr id="8" name="difference">
            <a:extLst xmlns:a="http://schemas.openxmlformats.org/drawingml/2006/main">
              <a:ext uri="{FF2B5EF4-FFF2-40B4-BE49-F238E27FC236}">
                <a16:creationId xmlns:a16="http://schemas.microsoft.com/office/drawing/2014/main" id="{A57153A1-6FAE-496D-97B6-0DF7A9DB2467}"/>
              </a:ext>
            </a:extLst>
          </p:cNvPr>
          <p:cNvSpPr>
            <a:spLocks xmlns:a="http://schemas.openxmlformats.org/drawingml/2006/main" noGrp="1"/>
          </p:cNvSpPr>
          <p:nvPr/>
        </p:nvSpPr>
        <p:spPr>
          <a:xfrm xmlns:a="http://schemas.openxmlformats.org/drawingml/2006/main">
            <a:off x="609600" y="5772150"/>
            <a:ext cx="10763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B3A"/>
                </a:solidFill>
                <a:latin typeface="Arial"/>
                <a:ea typeface="Arial"/>
                <a:cs typeface="Arial"/>
              </a:defRPr>
            </a:pPr>
            <a:r>
              <a:rPr sz="2175" b="1">
                <a:solidFill>
                  <a:srgbClr val="172B3A"/>
                </a:solidFill>
                <a:latin typeface="Arial"/>
                <a:ea typeface="Arial"/>
                <a:cs typeface="Arial"/>
              </a:rPr>
              <a:t>+17.33 percentage points over RAG</a:t>
            </a:r>
          </a:p>
        </p:txBody>
      </p:sp>
    </p:spTree>
    <p:extLst>
      <p:ext uri="{BB962C8B-B14F-4D97-AF65-F5344CB8AC3E}">
        <p14:creationId xmlns:p14="http://schemas.microsoft.com/office/powerpoint/2010/main" val="13780364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516306A-D69A-4CD0-8F70-DB2A2AF6FBA1}"/>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Evidence for location and strategy guidance</a:t>
            </a:r>
          </a:p>
        </p:txBody>
      </p:sp>
      <p:sp>
        <p:nvSpPr>
          <p:cNvPr id="2" name="source">
            <a:extLst xmlns:a="http://schemas.openxmlformats.org/drawingml/2006/main">
              <a:ext uri="{FF2B5EF4-FFF2-40B4-BE49-F238E27FC236}">
                <a16:creationId xmlns:a16="http://schemas.microsoft.com/office/drawing/2014/main" id="{47F3CC52-0A42-4C9B-ADDC-B4BCA7227F34}"/>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25-27, Tables 9-10. C/C++, DeepSeek-V3, 151 tasks.</a:t>
            </a:r>
          </a:p>
        </p:txBody>
      </p:sp>
      <p:sp>
        <p:nvSpPr>
          <p:cNvPr id="3" name="page">
            <a:extLst xmlns:a="http://schemas.openxmlformats.org/drawingml/2006/main">
              <a:ext uri="{FF2B5EF4-FFF2-40B4-BE49-F238E27FC236}">
                <a16:creationId xmlns:a16="http://schemas.microsoft.com/office/drawing/2014/main" id="{4CA7AA4E-0DF0-4D08-8180-46D05C102CDE}"/>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9</a:t>
            </a:r>
          </a:p>
        </p:txBody>
      </p:sp>
      <p:sp>
        <p:nvSpPr>
          <p:cNvPr id="4" name="ablation-metric">
            <a:extLst xmlns:a="http://schemas.openxmlformats.org/drawingml/2006/main">
              <a:ext uri="{FF2B5EF4-FFF2-40B4-BE49-F238E27FC236}">
                <a16:creationId xmlns:a16="http://schemas.microsoft.com/office/drawing/2014/main" id="{848C2D74-247A-46D3-8029-76F443792D29}"/>
              </a:ext>
            </a:extLst>
          </p:cNvPr>
          <p:cNvSpPr>
            <a:spLocks xmlns:a="http://schemas.openxmlformats.org/drawingml/2006/main" noGrp="1"/>
          </p:cNvSpPr>
          <p:nvPr/>
        </p:nvSpPr>
        <p:spPr>
          <a:xfrm xmlns:a="http://schemas.openxmlformats.org/drawingml/2006/main">
            <a:off x="609600" y="13239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SemEqv task successes on 151 C/C++ tasks</a:t>
            </a:r>
          </a:p>
        </p:txBody>
      </p:sp>
      <p:graphicFrame>
        <p:nvGraphicFramePr>
          <p:cNvPr id="12" name="Chart"/>
          <p:cNvGraphicFramePr/>
          <p:nvPr/>
        </p:nvGraphicFramePr>
        <p:xfrm>
          <a:off xmlns:a="http://schemas.openxmlformats.org/drawingml/2006/main" x="609600" y="1724025"/>
          <a:ext xmlns:a="http://schemas.openxmlformats.org/drawingml/2006/main" cx="10972800" cy="2276475"/>
        </p:xfrm>
        <a:graphic xmlns:a="http://schemas.openxmlformats.org/drawingml/2006/main">
          <a:graphicData uri="http://schemas.openxmlformats.org/drawingml/2006/chart">
            <c:chart xmlns:r="http://schemas.openxmlformats.org/officeDocument/2006/relationships" xmlns:c="http://schemas.openxmlformats.org/drawingml/2006/chart" r:id="R91158c9134984169"/>
          </a:graphicData>
        </a:graphic>
      </p:graphicFrame>
      <p:sp>
        <p:nvSpPr>
          <p:cNvPr id="6" name="crossrepo-title">
            <a:extLst xmlns:a="http://schemas.openxmlformats.org/drawingml/2006/main">
              <a:ext uri="{FF2B5EF4-FFF2-40B4-BE49-F238E27FC236}">
                <a16:creationId xmlns:a16="http://schemas.microsoft.com/office/drawing/2014/main" id="{898ACAF3-9E26-420C-9004-616F69E549A6}"/>
              </a:ext>
            </a:extLst>
          </p:cNvPr>
          <p:cNvSpPr>
            <a:spLocks xmlns:a="http://schemas.openxmlformats.org/drawingml/2006/main" noGrp="1"/>
          </p:cNvSpPr>
          <p:nvPr/>
        </p:nvSpPr>
        <p:spPr>
          <a:xfrm xmlns:a="http://schemas.openxmlformats.org/drawingml/2006/main">
            <a:off x="609600" y="41529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Removing examples from the same repository</a:t>
            </a:r>
          </a:p>
        </p:txBody>
      </p:sp>
      <p:graphicFrame>
        <p:nvGraphicFramePr>
          <p:cNvPr id="14" name=""/>
          <p:cNvGraphicFramePr/>
          <p:nvPr/>
        </p:nvGraphicFramePr>
        <p:xfrm>
          <a:off xmlns:a="http://schemas.openxmlformats.org/drawingml/2006/main" x="609600" y="4619625"/>
          <a:ext xmlns:a="http://schemas.openxmlformats.org/drawingml/2006/main" cx="10972800" cy="1457325"/>
        </p:xfrm>
        <a:graphic xmlns:a="http://schemas.openxmlformats.org/drawingml/2006/main">
          <a:graphicData uri="http://schemas.openxmlformats.org/drawingml/2006/table">
            <a:tbl>
              <a:tblPr/>
              <a:tblGrid>
                <a:gridCol w="3238500"/>
                <a:gridCol w="3486150"/>
                <a:gridCol w="4248150"/>
              </a:tblGrid>
              <a:tr h="485775">
                <a:tc>
                  <a:txBody>
                    <a:bodyPr>
                      <a:noAutofit/>
                    </a:bodyPr>
                    <a:lstStyle/>
                    <a:p>
                      <a:r>
                        <a:rPr sz="1650" b="1">
                          <a:solidFill>
                            <a:srgbClr val="172B3A"/>
                          </a:solidFill>
                          <a:latin typeface="Arial"/>
                          <a:ea typeface="Arial"/>
                          <a:cs typeface="Arial"/>
                        </a:rPr>
                        <a:t>Method</a:t>
                      </a:r>
                    </a:p>
                  </a:txBody>
                  <a:tcPr marL="133350" marR="133350" marT="85725" marB="85725" anchor="ctr">
                    <a:solidFill>
                      <a:srgbClr val="F2F5F6"/>
                    </a:solidFill>
                  </a:tcPr>
                </a:tc>
                <a:tc>
                  <a:txBody>
                    <a:bodyPr>
                      <a:noAutofit/>
                    </a:bodyPr>
                    <a:lstStyle/>
                    <a:p>
                      <a:r>
                        <a:rPr sz="1650" b="1">
                          <a:solidFill>
                            <a:srgbClr val="172B3A"/>
                          </a:solidFill>
                          <a:latin typeface="Arial"/>
                          <a:ea typeface="Arial"/>
                          <a:cs typeface="Arial"/>
                        </a:rPr>
                        <a:t>Standard library</a:t>
                      </a:r>
                    </a:p>
                  </a:txBody>
                  <a:tcPr marL="133350" marR="133350" marT="85725" marB="85725" anchor="ctr">
                    <a:solidFill>
                      <a:srgbClr val="F2F5F6"/>
                    </a:solidFill>
                  </a:tcPr>
                </a:tc>
                <a:tc>
                  <a:txBody>
                    <a:bodyPr>
                      <a:noAutofit/>
                    </a:bodyPr>
                    <a:lstStyle/>
                    <a:p>
                      <a:r>
                        <a:rPr sz="1650" b="1">
                          <a:solidFill>
                            <a:srgbClr val="172B3A"/>
                          </a:solidFill>
                          <a:latin typeface="Arial"/>
                          <a:ea typeface="Arial"/>
                          <a:cs typeface="Arial"/>
                        </a:rPr>
                        <a:t>Exclude same repository</a:t>
                      </a:r>
                    </a:p>
                  </a:txBody>
                  <a:tcPr marL="133350" marR="133350" marT="85725" marB="85725" anchor="ctr">
                    <a:solidFill>
                      <a:srgbClr val="F2F5F6"/>
                    </a:solidFill>
                  </a:tcPr>
                </a:tc>
              </a:tr>
              <a:tr h="485775">
                <a:tc>
                  <a:txBody>
                    <a:bodyPr>
                      <a:noAutofit/>
                    </a:bodyPr>
                    <a:lstStyle/>
                    <a:p>
                      <a:r>
                        <a:rPr sz="1650" b="0">
                          <a:solidFill>
                            <a:srgbClr val="26343D"/>
                          </a:solidFill>
                          <a:latin typeface="Arial"/>
                          <a:ea typeface="Arial"/>
                          <a:cs typeface="Arial"/>
                        </a:rPr>
                        <a:t>SemOpt</a:t>
                      </a:r>
                    </a:p>
                  </a:txBody>
                  <a:tcPr marL="133350" marR="133350" marT="85725" marB="85725" anchor="ctr">
                    <a:solidFill>
                      <a:srgbClr val="FFFFFF"/>
                    </a:solidFill>
                  </a:tcPr>
                </a:tc>
                <a:tc>
                  <a:txBody>
                    <a:bodyPr>
                      <a:noAutofit/>
                    </a:bodyPr>
                    <a:lstStyle/>
                    <a:p>
                      <a:r>
                        <a:rPr sz="1650" b="0">
                          <a:solidFill>
                            <a:srgbClr val="26343D"/>
                          </a:solidFill>
                          <a:latin typeface="Arial"/>
                          <a:ea typeface="Arial"/>
                          <a:cs typeface="Arial"/>
                        </a:rPr>
                        <a:t>64 successes</a:t>
                      </a:r>
                    </a:p>
                  </a:txBody>
                  <a:tcPr marL="133350" marR="133350" marT="85725" marB="85725" anchor="ctr">
                    <a:solidFill>
                      <a:srgbClr val="FFFFFF"/>
                    </a:solidFill>
                  </a:tcPr>
                </a:tc>
                <a:tc>
                  <a:txBody>
                    <a:bodyPr>
                      <a:noAutofit/>
                    </a:bodyPr>
                    <a:lstStyle/>
                    <a:p>
                      <a:r>
                        <a:rPr sz="1650" b="0">
                          <a:solidFill>
                            <a:srgbClr val="26343D"/>
                          </a:solidFill>
                          <a:latin typeface="Arial"/>
                          <a:ea typeface="Arial"/>
                          <a:cs typeface="Arial"/>
                        </a:rPr>
                        <a:t>63 successes</a:t>
                      </a:r>
                    </a:p>
                  </a:txBody>
                  <a:tcPr marL="133350" marR="133350" marT="85725" marB="85725" anchor="ctr">
                    <a:solidFill>
                      <a:srgbClr val="FFFFFF"/>
                    </a:solidFill>
                  </a:tcPr>
                </a:tc>
              </a:tr>
              <a:tr h="485775">
                <a:tc>
                  <a:txBody>
                    <a:bodyPr>
                      <a:noAutofit/>
                    </a:bodyPr>
                    <a:lstStyle/>
                    <a:p>
                      <a:r>
                        <a:rPr sz="1650" b="0">
                          <a:solidFill>
                            <a:srgbClr val="26343D"/>
                          </a:solidFill>
                          <a:latin typeface="Arial"/>
                          <a:ea typeface="Arial"/>
                          <a:cs typeface="Arial"/>
                        </a:rPr>
                        <a:t>RAG</a:t>
                      </a:r>
                    </a:p>
                  </a:txBody>
                  <a:tcPr marL="133350" marR="133350" marT="85725" marB="85725" anchor="ctr">
                    <a:solidFill>
                      <a:srgbClr val="FFFFFF"/>
                    </a:solidFill>
                  </a:tcPr>
                </a:tc>
                <a:tc>
                  <a:txBody>
                    <a:bodyPr>
                      <a:noAutofit/>
                    </a:bodyPr>
                    <a:lstStyle/>
                    <a:p>
                      <a:r>
                        <a:rPr sz="1650" b="0">
                          <a:solidFill>
                            <a:srgbClr val="26343D"/>
                          </a:solidFill>
                          <a:latin typeface="Arial"/>
                          <a:ea typeface="Arial"/>
                          <a:cs typeface="Arial"/>
                        </a:rPr>
                        <a:t>36 successes</a:t>
                      </a:r>
                    </a:p>
                  </a:txBody>
                  <a:tcPr marL="133350" marR="133350" marT="85725" marB="85725" anchor="ctr">
                    <a:solidFill>
                      <a:srgbClr val="FFFFFF"/>
                    </a:solidFill>
                  </a:tcPr>
                </a:tc>
                <a:tc>
                  <a:txBody>
                    <a:bodyPr>
                      <a:noAutofit/>
                    </a:bodyPr>
                    <a:lstStyle/>
                    <a:p>
                      <a:r>
                        <a:rPr sz="1650" b="0">
                          <a:solidFill>
                            <a:srgbClr val="26343D"/>
                          </a:solidFill>
                          <a:latin typeface="Arial"/>
                          <a:ea typeface="Arial"/>
                          <a:cs typeface="Arial"/>
                        </a:rPr>
                        <a:t>10 successes</a:t>
                      </a:r>
                    </a:p>
                  </a:txBody>
                  <a:tcPr marL="133350" marR="133350" marT="85725" marB="85725" anchor="ctr">
                    <a:solidFill>
                      <a:srgbClr val="FFFFFF"/>
                    </a:solidFill>
                  </a:tcPr>
                </a:tc>
              </a:tr>
            </a:tbl>
          </a:graphicData>
        </a:graphic>
      </p:graphicFrame>
    </p:spTree>
    <p:extLst>
      <p:ext uri="{BB962C8B-B14F-4D97-AF65-F5344CB8AC3E}">
        <p14:creationId xmlns:p14="http://schemas.microsoft.com/office/powerpoint/2010/main" val="14082132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F29411D-7196-46B6-9AC7-7ACF61223B67}"/>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Performance on five Python projects</a:t>
            </a:r>
          </a:p>
        </p:txBody>
      </p:sp>
      <p:sp>
        <p:nvSpPr>
          <p:cNvPr id="2" name="source">
            <a:extLst xmlns:a="http://schemas.openxmlformats.org/drawingml/2006/main">
              <a:ext uri="{FF2B5EF4-FFF2-40B4-BE49-F238E27FC236}">
                <a16:creationId xmlns:a16="http://schemas.microsoft.com/office/drawing/2014/main" id="{35AD045D-B939-4B15-813A-4FEF0A1B64ED}"/>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31-33, Table 15. Improvement uses the paper's speed-based definition.</a:t>
            </a:r>
          </a:p>
        </p:txBody>
      </p:sp>
      <p:sp>
        <p:nvSpPr>
          <p:cNvPr id="3" name="page">
            <a:extLst xmlns:a="http://schemas.openxmlformats.org/drawingml/2006/main">
              <a:ext uri="{FF2B5EF4-FFF2-40B4-BE49-F238E27FC236}">
                <a16:creationId xmlns:a16="http://schemas.microsoft.com/office/drawing/2014/main" id="{70974B93-BCDE-4BCD-BDAE-68CB3A165ED7}"/>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10</a:t>
            </a:r>
          </a:p>
        </p:txBody>
      </p:sp>
      <p:graphicFrame>
        <p:nvGraphicFramePr>
          <p:cNvPr id="10" name=""/>
          <p:cNvGraphicFramePr/>
          <p:nvPr/>
        </p:nvGraphicFramePr>
        <p:xfrm>
          <a:off xmlns:a="http://schemas.openxmlformats.org/drawingml/2006/main" x="609600" y="1438275"/>
          <a:ext xmlns:a="http://schemas.openxmlformats.org/drawingml/2006/main" cx="10972800" cy="3333750"/>
        </p:xfrm>
        <a:graphic xmlns:a="http://schemas.openxmlformats.org/drawingml/2006/main">
          <a:graphicData uri="http://schemas.openxmlformats.org/drawingml/2006/table">
            <a:tbl>
              <a:tblPr/>
              <a:tblGrid>
                <a:gridCol w="2952750"/>
                <a:gridCol w="1409700"/>
                <a:gridCol w="3476625"/>
                <a:gridCol w="3133725"/>
              </a:tblGrid>
              <a:tr h="555625">
                <a:tc>
                  <a:txBody>
                    <a:bodyPr>
                      <a:noAutofit/>
                    </a:bodyPr>
                    <a:lstStyle/>
                    <a:p>
                      <a:r>
                        <a:rPr sz="2025" b="1">
                          <a:solidFill>
                            <a:srgbClr val="172B3A"/>
                          </a:solidFill>
                          <a:latin typeface="Arial"/>
                          <a:ea typeface="Arial"/>
                          <a:cs typeface="Arial"/>
                        </a:rPr>
                        <a:t>Project</a:t>
                      </a:r>
                    </a:p>
                  </a:txBody>
                  <a:tcPr marL="133350" marR="133350" marT="85725" marB="85725" anchor="ctr">
                    <a:solidFill>
                      <a:srgbClr val="F2F5F6"/>
                    </a:solidFill>
                  </a:tcPr>
                </a:tc>
                <a:tc>
                  <a:txBody>
                    <a:bodyPr>
                      <a:noAutofit/>
                    </a:bodyPr>
                    <a:lstStyle/>
                    <a:p>
                      <a:r>
                        <a:rPr sz="2025" b="1">
                          <a:solidFill>
                            <a:srgbClr val="172B3A"/>
                          </a:solidFill>
                          <a:latin typeface="Arial"/>
                          <a:ea typeface="Arial"/>
                          <a:cs typeface="Arial"/>
                        </a:rPr>
                        <a:t>Tests</a:t>
                      </a:r>
                    </a:p>
                  </a:txBody>
                  <a:tcPr marL="133350" marR="133350" marT="85725" marB="85725" anchor="ctr">
                    <a:solidFill>
                      <a:srgbClr val="F2F5F6"/>
                    </a:solidFill>
                  </a:tcPr>
                </a:tc>
                <a:tc>
                  <a:txBody>
                    <a:bodyPr>
                      <a:noAutofit/>
                    </a:bodyPr>
                    <a:lstStyle/>
                    <a:p>
                      <a:r>
                        <a:rPr sz="2025" b="1">
                          <a:solidFill>
                            <a:srgbClr val="172B3A"/>
                          </a:solidFill>
                          <a:latin typeface="Arial"/>
                          <a:ea typeface="Arial"/>
                          <a:cs typeface="Arial"/>
                        </a:rPr>
                        <a:t>Mean improvement</a:t>
                      </a:r>
                    </a:p>
                  </a:txBody>
                  <a:tcPr marL="133350" marR="133350" marT="85725" marB="85725" anchor="ctr">
                    <a:solidFill>
                      <a:srgbClr val="F2F5F6"/>
                    </a:solidFill>
                  </a:tcPr>
                </a:tc>
                <a:tc>
                  <a:txBody>
                    <a:bodyPr>
                      <a:noAutofit/>
                    </a:bodyPr>
                    <a:lstStyle/>
                    <a:p>
                      <a:r>
                        <a:rPr sz="2025" b="1">
                          <a:solidFill>
                            <a:srgbClr val="172B3A"/>
                          </a:solidFill>
                          <a:latin typeface="Arial"/>
                          <a:ea typeface="Arial"/>
                          <a:cs typeface="Arial"/>
                        </a:rPr>
                        <a:t>Maximum</a:t>
                      </a:r>
                    </a:p>
                  </a:txBody>
                  <a:tcPr marL="133350" marR="133350" marT="85725" marB="85725" anchor="ctr">
                    <a:solidFill>
                      <a:srgbClr val="F2F5F6"/>
                    </a:solidFill>
                  </a:tcPr>
                </a:tc>
              </a:tr>
              <a:tr h="555625">
                <a:tc>
                  <a:txBody>
                    <a:bodyPr>
                      <a:noAutofit/>
                    </a:bodyPr>
                    <a:lstStyle/>
                    <a:p>
                      <a:r>
                        <a:rPr sz="2025" b="0">
                          <a:solidFill>
                            <a:srgbClr val="26343D"/>
                          </a:solidFill>
                          <a:latin typeface="Arial"/>
                          <a:ea typeface="Arial"/>
                          <a:cs typeface="Arial"/>
                        </a:rPr>
                        <a:t>Click</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11</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143.25%</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479.90%</a:t>
                      </a:r>
                    </a:p>
                  </a:txBody>
                  <a:tcPr marL="133350" marR="133350" marT="85725" marB="85725" anchor="ctr">
                    <a:solidFill>
                      <a:srgbClr val="FFFFFF"/>
                    </a:solidFill>
                  </a:tcPr>
                </a:tc>
              </a:tr>
              <a:tr h="555625">
                <a:tc>
                  <a:txBody>
                    <a:bodyPr>
                      <a:noAutofit/>
                    </a:bodyPr>
                    <a:lstStyle/>
                    <a:p>
                      <a:r>
                        <a:rPr sz="2025" b="0">
                          <a:solidFill>
                            <a:srgbClr val="26343D"/>
                          </a:solidFill>
                          <a:latin typeface="Arial"/>
                          <a:ea typeface="Arial"/>
                          <a:cs typeface="Arial"/>
                        </a:rPr>
                        <a:t>Flask</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8</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56.67%</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66.07%</a:t>
                      </a:r>
                    </a:p>
                  </a:txBody>
                  <a:tcPr marL="133350" marR="133350" marT="85725" marB="85725" anchor="ctr">
                    <a:solidFill>
                      <a:srgbClr val="FFFFFF"/>
                    </a:solidFill>
                  </a:tcPr>
                </a:tc>
              </a:tr>
              <a:tr h="555625">
                <a:tc>
                  <a:txBody>
                    <a:bodyPr>
                      <a:noAutofit/>
                    </a:bodyPr>
                    <a:lstStyle/>
                    <a:p>
                      <a:r>
                        <a:rPr sz="2025" b="0">
                          <a:solidFill>
                            <a:srgbClr val="26343D"/>
                          </a:solidFill>
                          <a:latin typeface="Arial"/>
                          <a:ea typeface="Arial"/>
                          <a:cs typeface="Arial"/>
                        </a:rPr>
                        <a:t>Jinja</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8</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48.60%</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71.43%</a:t>
                      </a:r>
                    </a:p>
                  </a:txBody>
                  <a:tcPr marL="133350" marR="133350" marT="85725" marB="85725" anchor="ctr">
                    <a:solidFill>
                      <a:srgbClr val="FFFFFF"/>
                    </a:solidFill>
                  </a:tcPr>
                </a:tc>
              </a:tr>
              <a:tr h="555625">
                <a:tc>
                  <a:txBody>
                    <a:bodyPr>
                      <a:noAutofit/>
                    </a:bodyPr>
                    <a:lstStyle/>
                    <a:p>
                      <a:r>
                        <a:rPr sz="2025" b="0">
                          <a:solidFill>
                            <a:srgbClr val="26343D"/>
                          </a:solidFill>
                          <a:latin typeface="Arial"/>
                          <a:ea typeface="Arial"/>
                          <a:cs typeface="Arial"/>
                        </a:rPr>
                        <a:t>Requests</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9</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40.19%</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85.45%</a:t>
                      </a:r>
                    </a:p>
                  </a:txBody>
                  <a:tcPr marL="133350" marR="133350" marT="85725" marB="85725" anchor="ctr">
                    <a:solidFill>
                      <a:srgbClr val="FFFFFF"/>
                    </a:solidFill>
                  </a:tcPr>
                </a:tc>
              </a:tr>
              <a:tr h="555625">
                <a:tc>
                  <a:txBody>
                    <a:bodyPr>
                      <a:noAutofit/>
                    </a:bodyPr>
                    <a:lstStyle/>
                    <a:p>
                      <a:r>
                        <a:rPr sz="2025" b="0">
                          <a:solidFill>
                            <a:srgbClr val="26343D"/>
                          </a:solidFill>
                          <a:latin typeface="Arial"/>
                          <a:ea typeface="Arial"/>
                          <a:cs typeface="Arial"/>
                        </a:rPr>
                        <a:t>Scrapy</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4</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50.26%</a:t>
                      </a:r>
                    </a:p>
                  </a:txBody>
                  <a:tcPr marL="133350" marR="133350" marT="85725" marB="85725" anchor="ctr">
                    <a:solidFill>
                      <a:srgbClr val="FFFFFF"/>
                    </a:solidFill>
                  </a:tcPr>
                </a:tc>
                <a:tc>
                  <a:txBody>
                    <a:bodyPr>
                      <a:noAutofit/>
                    </a:bodyPr>
                    <a:lstStyle/>
                    <a:p>
                      <a:r>
                        <a:rPr sz="2025" b="0">
                          <a:solidFill>
                            <a:srgbClr val="26343D"/>
                          </a:solidFill>
                          <a:latin typeface="Arial"/>
                          <a:ea typeface="Arial"/>
                          <a:cs typeface="Arial"/>
                        </a:rPr>
                        <a:t>61.77%</a:t>
                      </a:r>
                    </a:p>
                  </a:txBody>
                  <a:tcPr marL="133350" marR="133350" marT="85725" marB="85725" anchor="ctr">
                    <a:solidFill>
                      <a:srgbClr val="FFFFFF"/>
                    </a:solidFill>
                  </a:tcPr>
                </a:tc>
              </a:tr>
            </a:tbl>
          </a:graphicData>
        </a:graphic>
      </p:graphicFrame>
      <p:sp>
        <p:nvSpPr>
          <p:cNvPr id="5" name="formula">
            <a:extLst xmlns:a="http://schemas.openxmlformats.org/drawingml/2006/main">
              <a:ext uri="{FF2B5EF4-FFF2-40B4-BE49-F238E27FC236}">
                <a16:creationId xmlns:a16="http://schemas.microsoft.com/office/drawing/2014/main" id="{227E3B38-4CA3-4577-81A4-EC61CE160B3C}"/>
              </a:ext>
            </a:extLst>
          </p:cNvPr>
          <p:cNvSpPr>
            <a:spLocks xmlns:a="http://schemas.openxmlformats.org/drawingml/2006/main" noGrp="1"/>
          </p:cNvSpPr>
          <p:nvPr/>
        </p:nvSpPr>
        <p:spPr>
          <a:xfrm xmlns:a="http://schemas.openxmlformats.org/drawingml/2006/main">
            <a:off x="609600" y="5181600"/>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2B3A"/>
                </a:solidFill>
                <a:latin typeface="Arial"/>
                <a:ea typeface="Arial"/>
                <a:cs typeface="Arial"/>
              </a:defRPr>
            </a:pPr>
            <a:r>
              <a:rPr sz="1950" b="1">
                <a:solidFill>
                  <a:srgbClr val="172B3A"/>
                </a:solidFill>
                <a:latin typeface="Arial"/>
                <a:ea typeface="Arial"/>
                <a:cs typeface="Arial"/>
              </a:rPr>
              <a:t>For runtime tests: improvement = (old time - new time) / new time</a:t>
            </a:r>
          </a:p>
        </p:txBody>
      </p:sp>
      <p:sp>
        <p:nvSpPr>
          <p:cNvPr id="6" name="example">
            <a:extLst xmlns:a="http://schemas.openxmlformats.org/drawingml/2006/main">
              <a:ext uri="{FF2B5EF4-FFF2-40B4-BE49-F238E27FC236}">
                <a16:creationId xmlns:a16="http://schemas.microsoft.com/office/drawing/2014/main" id="{B9009CDF-A414-47D9-A26A-A2EAA01E9105}"/>
              </a:ext>
            </a:extLst>
          </p:cNvPr>
          <p:cNvSpPr>
            <a:spLocks xmlns:a="http://schemas.openxmlformats.org/drawingml/2006/main" noGrp="1"/>
          </p:cNvSpPr>
          <p:nvPr/>
        </p:nvSpPr>
        <p:spPr>
          <a:xfrm xmlns:a="http://schemas.openxmlformats.org/drawingml/2006/main">
            <a:off x="609600" y="57435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100% improvement means 2x speed, or a 50% reduction in runtime.</a:t>
            </a:r>
          </a:p>
        </p:txBody>
      </p:sp>
    </p:spTree>
    <p:extLst>
      <p:ext uri="{BB962C8B-B14F-4D97-AF65-F5344CB8AC3E}">
        <p14:creationId xmlns:p14="http://schemas.microsoft.com/office/powerpoint/2010/main" val="21331481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76AFA95C-E043-4E3F-B035-C99761CA67E6}"/>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SemOpt already has an acceptance rule</a:t>
            </a:r>
          </a:p>
        </p:txBody>
      </p:sp>
      <p:sp>
        <p:nvSpPr>
          <p:cNvPr id="2" name="source">
            <a:extLst xmlns:a="http://schemas.openxmlformats.org/drawingml/2006/main">
              <a:ext uri="{FF2B5EF4-FFF2-40B4-BE49-F238E27FC236}">
                <a16:creationId xmlns:a16="http://schemas.microsoft.com/office/drawing/2014/main" id="{FCD37AB7-4368-4888-A9A9-F1FCCA167B1B}"/>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32-34, Sections 5.1.2 and 5.2.2</a:t>
            </a:r>
          </a:p>
        </p:txBody>
      </p:sp>
      <p:sp>
        <p:nvSpPr>
          <p:cNvPr id="3" name="page">
            <a:extLst xmlns:a="http://schemas.openxmlformats.org/drawingml/2006/main">
              <a:ext uri="{FF2B5EF4-FFF2-40B4-BE49-F238E27FC236}">
                <a16:creationId xmlns:a16="http://schemas.microsoft.com/office/drawing/2014/main" id="{999A73F6-9325-4534-A1F4-134C06AF1B0F}"/>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11</a:t>
            </a:r>
          </a:p>
        </p:txBody>
      </p:sp>
      <p:sp>
        <p:nvSpPr>
          <p:cNvPr id="4" name="tests-heading">
            <a:extLst xmlns:a="http://schemas.openxmlformats.org/drawingml/2006/main">
              <a:ext uri="{FF2B5EF4-FFF2-40B4-BE49-F238E27FC236}">
                <a16:creationId xmlns:a16="http://schemas.microsoft.com/office/drawing/2014/main" id="{A90DB685-D803-4203-A6FF-C353DB6F3E7D}"/>
              </a:ext>
            </a:extLst>
          </p:cNvPr>
          <p:cNvSpPr>
            <a:spLocks xmlns:a="http://schemas.openxmlformats.org/drawingml/2006/main" noGrp="1"/>
          </p:cNvSpPr>
          <p:nvPr/>
        </p:nvSpPr>
        <p:spPr>
          <a:xfrm xmlns:a="http://schemas.openxmlformats.org/drawingml/2006/main">
            <a:off x="609600" y="14382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1  Check behavior</a:t>
            </a:r>
          </a:p>
        </p:txBody>
      </p:sp>
      <p:sp>
        <p:nvSpPr>
          <p:cNvPr id="5" name="tests-body">
            <a:extLst xmlns:a="http://schemas.openxmlformats.org/drawingml/2006/main">
              <a:ext uri="{FF2B5EF4-FFF2-40B4-BE49-F238E27FC236}">
                <a16:creationId xmlns:a16="http://schemas.microsoft.com/office/drawing/2014/main" id="{869D2D33-686E-48B6-8DDC-D398CF386DA7}"/>
              </a:ext>
            </a:extLst>
          </p:cNvPr>
          <p:cNvSpPr>
            <a:spLocks xmlns:a="http://schemas.openxmlformats.org/drawingml/2006/main" noGrp="1"/>
          </p:cNvSpPr>
          <p:nvPr/>
        </p:nvSpPr>
        <p:spPr>
          <a:xfrm xmlns:a="http://schemas.openxmlformats.org/drawingml/2006/main">
            <a:off x="609600" y="1857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Run the project's unit tests before judging performance.</a:t>
            </a:r>
          </a:p>
        </p:txBody>
      </p:sp>
      <p:sp>
        <p:nvSpPr>
          <p:cNvPr id="6" name="timing-heading">
            <a:extLst xmlns:a="http://schemas.openxmlformats.org/drawingml/2006/main">
              <a:ext uri="{FF2B5EF4-FFF2-40B4-BE49-F238E27FC236}">
                <a16:creationId xmlns:a16="http://schemas.microsoft.com/office/drawing/2014/main" id="{09739B40-DEC9-40A5-A3DF-98ECC01BCCAC}"/>
              </a:ext>
            </a:extLst>
          </p:cNvPr>
          <p:cNvSpPr>
            <a:spLocks xmlns:a="http://schemas.openxmlformats.org/drawingml/2006/main" noGrp="1"/>
          </p:cNvSpPr>
          <p:nvPr/>
        </p:nvSpPr>
        <p:spPr>
          <a:xfrm xmlns:a="http://schemas.openxmlformats.org/drawingml/2006/main">
            <a:off x="609600" y="24574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2  Measure both versions</a:t>
            </a:r>
          </a:p>
        </p:txBody>
      </p:sp>
      <p:sp>
        <p:nvSpPr>
          <p:cNvPr id="7" name="timing-body">
            <a:extLst xmlns:a="http://schemas.openxmlformats.org/drawingml/2006/main">
              <a:ext uri="{FF2B5EF4-FFF2-40B4-BE49-F238E27FC236}">
                <a16:creationId xmlns:a16="http://schemas.microsoft.com/office/drawing/2014/main" id="{DB6E757B-989C-4784-8493-4E0315EBBB0C}"/>
              </a:ext>
            </a:extLst>
          </p:cNvPr>
          <p:cNvSpPr>
            <a:spLocks xmlns:a="http://schemas.openxmlformats.org/drawingml/2006/main" noGrp="1"/>
          </p:cNvSpPr>
          <p:nvPr/>
        </p:nvSpPr>
        <p:spPr>
          <a:xfrm xmlns:a="http://schemas.openxmlformats.org/drawingml/2006/main">
            <a:off x="609600" y="28765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Run 6 times, discard the first run, and average the remaining 5.</a:t>
            </a:r>
          </a:p>
        </p:txBody>
      </p:sp>
      <p:sp>
        <p:nvSpPr>
          <p:cNvPr id="8" name="gate">
            <a:extLst xmlns:a="http://schemas.openxmlformats.org/drawingml/2006/main">
              <a:ext uri="{FF2B5EF4-FFF2-40B4-BE49-F238E27FC236}">
                <a16:creationId xmlns:a16="http://schemas.microsoft.com/office/drawing/2014/main" id="{8E7674FE-8464-4B5D-BA5A-EB3349DD312D}"/>
              </a:ext>
            </a:extLst>
          </p:cNvPr>
          <p:cNvSpPr>
            <a:spLocks xmlns:a="http://schemas.openxmlformats.org/drawingml/2006/main" noGrp="1"/>
          </p:cNvSpPr>
          <p:nvPr/>
        </p:nvSpPr>
        <p:spPr>
          <a:xfrm xmlns:a="http://schemas.openxmlformats.org/drawingml/2006/main">
            <a:off x="609600" y="35909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66B78"/>
                </a:solidFill>
                <a:latin typeface="Arial"/>
                <a:ea typeface="Arial"/>
                <a:cs typeface="Arial"/>
              </a:defRPr>
            </a:pPr>
            <a:r>
              <a:rPr sz="2625" b="1">
                <a:solidFill>
                  <a:srgbClr val="166B78"/>
                </a:solidFill>
                <a:latin typeface="Arial"/>
                <a:ea typeface="Arial"/>
                <a:cs typeface="Arial"/>
              </a:rPr>
              <a:t>More than 5% improvement on at least one test</a:t>
            </a:r>
          </a:p>
          <a:p xmlns:a="http://schemas.openxmlformats.org/drawingml/2006/main">
            <a:pPr algn="l">
              <a:defRPr sz="2625" b="1">
                <a:solidFill>
                  <a:srgbClr val="166B78"/>
                </a:solidFill>
                <a:latin typeface="Arial"/>
                <a:ea typeface="Arial"/>
                <a:cs typeface="Arial"/>
              </a:defRPr>
            </a:pPr>
            <a:r>
              <a:rPr sz="2625" b="1">
                <a:solidFill>
                  <a:srgbClr val="166B78"/>
                </a:solidFill>
                <a:latin typeface="Arial"/>
                <a:ea typeface="Arial"/>
                <a:cs typeface="Arial"/>
              </a:rPr>
              <a:t>At most 2% degradation on every other test</a:t>
            </a:r>
          </a:p>
        </p:txBody>
      </p:sp>
      <p:sp>
        <p:nvSpPr>
          <p:cNvPr id="9" name="select-heading">
            <a:extLst xmlns:a="http://schemas.openxmlformats.org/drawingml/2006/main">
              <a:ext uri="{FF2B5EF4-FFF2-40B4-BE49-F238E27FC236}">
                <a16:creationId xmlns:a16="http://schemas.microsoft.com/office/drawing/2014/main" id="{83CE5A49-57B3-4E6B-ACEC-6F7A6B53145A}"/>
              </a:ext>
            </a:extLst>
          </p:cNvPr>
          <p:cNvSpPr>
            <a:spLocks xmlns:a="http://schemas.openxmlformats.org/drawingml/2006/main" noGrp="1"/>
          </p:cNvSpPr>
          <p:nvPr/>
        </p:nvSpPr>
        <p:spPr>
          <a:xfrm xmlns:a="http://schemas.openxmlformats.org/drawingml/2006/main">
            <a:off x="609600" y="4924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3  Select and compose</a:t>
            </a:r>
          </a:p>
        </p:txBody>
      </p:sp>
      <p:sp>
        <p:nvSpPr>
          <p:cNvPr id="10" name="select-body">
            <a:extLst xmlns:a="http://schemas.openxmlformats.org/drawingml/2006/main">
              <a:ext uri="{FF2B5EF4-FFF2-40B4-BE49-F238E27FC236}">
                <a16:creationId xmlns:a16="http://schemas.microsoft.com/office/drawing/2014/main" id="{4FE01CF7-CAEE-490D-8368-0D68377337EB}"/>
              </a:ext>
            </a:extLst>
          </p:cNvPr>
          <p:cNvSpPr>
            <a:spLocks xmlns:a="http://schemas.openxmlformats.org/drawingml/2006/main" noGrp="1"/>
          </p:cNvSpPr>
          <p:nvPr/>
        </p:nvSpPr>
        <p:spPr>
          <a:xfrm xmlns:a="http://schemas.openxmlformats.org/drawingml/2006/main">
            <a:off x="609600" y="5343525"/>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Keep the qualifying variant with the highest summed improvement for each function. Retain the original when none qualifies.</a:t>
            </a:r>
          </a:p>
        </p:txBody>
      </p:sp>
    </p:spTree>
    <p:extLst>
      <p:ext uri="{BB962C8B-B14F-4D97-AF65-F5344CB8AC3E}">
        <p14:creationId xmlns:p14="http://schemas.microsoft.com/office/powerpoint/2010/main" val="15060487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89907FD-8223-40E5-BE1E-9263712EF6C3}"/>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Critical assessment</a:t>
            </a:r>
          </a:p>
        </p:txBody>
      </p:sp>
      <p:sp>
        <p:nvSpPr>
          <p:cNvPr id="2" name="source">
            <a:extLst xmlns:a="http://schemas.openxmlformats.org/drawingml/2006/main">
              <a:ext uri="{FF2B5EF4-FFF2-40B4-BE49-F238E27FC236}">
                <a16:creationId xmlns:a16="http://schemas.microsoft.com/office/drawing/2014/main" id="{3B7A30AB-EDFB-46B9-8E8A-FE729B3D576F}"/>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18, 24-30 and 32-37. Presenter assessment.</a:t>
            </a:r>
          </a:p>
        </p:txBody>
      </p:sp>
      <p:sp>
        <p:nvSpPr>
          <p:cNvPr id="3" name="page">
            <a:extLst xmlns:a="http://schemas.openxmlformats.org/drawingml/2006/main">
              <a:ext uri="{FF2B5EF4-FFF2-40B4-BE49-F238E27FC236}">
                <a16:creationId xmlns:a16="http://schemas.microsoft.com/office/drawing/2014/main" id="{CEC00AA6-C1DD-40E5-8075-06DA4C65DCF8}"/>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12</a:t>
            </a:r>
          </a:p>
        </p:txBody>
      </p:sp>
      <p:sp>
        <p:nvSpPr>
          <p:cNvPr id="4" name="strength-head">
            <a:extLst xmlns:a="http://schemas.openxmlformats.org/drawingml/2006/main">
              <a:ext uri="{FF2B5EF4-FFF2-40B4-BE49-F238E27FC236}">
                <a16:creationId xmlns:a16="http://schemas.microsoft.com/office/drawing/2014/main" id="{7229E81D-2659-4B29-90BE-27D9ECD8F623}"/>
              </a:ext>
            </a:extLst>
          </p:cNvPr>
          <p:cNvSpPr>
            <a:spLocks xmlns:a="http://schemas.openxmlformats.org/drawingml/2006/main" noGrp="1"/>
          </p:cNvSpPr>
          <p:nvPr/>
        </p:nvSpPr>
        <p:spPr>
          <a:xfrm xmlns:a="http://schemas.openxmlformats.org/drawingml/2006/main">
            <a:off x="609600" y="1457325"/>
            <a:ext cx="5200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66B78"/>
                </a:solidFill>
                <a:latin typeface="Arial"/>
                <a:ea typeface="Arial"/>
                <a:cs typeface="Arial"/>
              </a:defRPr>
            </a:pPr>
            <a:r>
              <a:rPr sz="2100" b="1">
                <a:solidFill>
                  <a:srgbClr val="166B78"/>
                </a:solidFill>
                <a:latin typeface="Arial"/>
                <a:ea typeface="Arial"/>
                <a:cs typeface="Arial"/>
              </a:rPr>
              <a:t>What supports the contribution</a:t>
            </a:r>
          </a:p>
        </p:txBody>
      </p:sp>
      <p:sp>
        <p:nvSpPr>
          <p:cNvPr id="5" name="strengths">
            <a:extLst xmlns:a="http://schemas.openxmlformats.org/drawingml/2006/main">
              <a:ext uri="{FF2B5EF4-FFF2-40B4-BE49-F238E27FC236}">
                <a16:creationId xmlns:a16="http://schemas.microsoft.com/office/drawing/2014/main" id="{B4D0F7DA-0F63-4B98-A22B-048803265EEF}"/>
              </a:ext>
            </a:extLst>
          </p:cNvPr>
          <p:cNvSpPr>
            <a:spLocks xmlns:a="http://schemas.openxmlformats.org/drawingml/2006/main" noGrp="1"/>
          </p:cNvSpPr>
          <p:nvPr/>
        </p:nvSpPr>
        <p:spPr>
          <a:xfrm xmlns:a="http://schemas.openxmlformats.org/drawingml/2006/main">
            <a:off x="609600" y="2085975"/>
            <a:ext cx="5191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A concrete, reusable optimization mechanism</a:t>
            </a:r>
          </a:p>
          <a:p xmlns:a="http://schemas.openxmlformats.org/drawingml/2006/main">
            <a:r>
              <a:t/>
            </a:r>
          </a:p>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Ablations support both prompt inputs</a:t>
            </a:r>
          </a:p>
          <a:p xmlns:a="http://schemas.openxmlformats.org/drawingml/2006/main">
            <a:r>
              <a:t/>
            </a:r>
          </a:p>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Repository exclusion tests transfer</a:t>
            </a:r>
          </a:p>
          <a:p xmlns:a="http://schemas.openxmlformats.org/drawingml/2006/main">
            <a:r>
              <a:t/>
            </a:r>
          </a:p>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Project tests show measured benefits</a:t>
            </a:r>
          </a:p>
        </p:txBody>
      </p:sp>
      <p:sp>
        <p:nvSpPr>
          <p:cNvPr id="6" name="limit-head">
            <a:extLst xmlns:a="http://schemas.openxmlformats.org/drawingml/2006/main">
              <a:ext uri="{FF2B5EF4-FFF2-40B4-BE49-F238E27FC236}">
                <a16:creationId xmlns:a16="http://schemas.microsoft.com/office/drawing/2014/main" id="{8D4C2ECB-D600-4A41-AAB6-BB8EF0AA86C7}"/>
              </a:ext>
            </a:extLst>
          </p:cNvPr>
          <p:cNvSpPr>
            <a:spLocks xmlns:a="http://schemas.openxmlformats.org/drawingml/2006/main" noGrp="1"/>
          </p:cNvSpPr>
          <p:nvPr/>
        </p:nvSpPr>
        <p:spPr>
          <a:xfrm xmlns:a="http://schemas.openxmlformats.org/drawingml/2006/main">
            <a:off x="6448425" y="1457325"/>
            <a:ext cx="51339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What bounds the conclusion</a:t>
            </a:r>
          </a:p>
        </p:txBody>
      </p:sp>
      <p:sp>
        <p:nvSpPr>
          <p:cNvPr id="7" name="limits">
            <a:extLst xmlns:a="http://schemas.openxmlformats.org/drawingml/2006/main">
              <a:ext uri="{FF2B5EF4-FFF2-40B4-BE49-F238E27FC236}">
                <a16:creationId xmlns:a16="http://schemas.microsoft.com/office/drawing/2014/main" id="{DBBEAE50-1400-43D2-B843-3FABABC44197}"/>
              </a:ext>
            </a:extLst>
          </p:cNvPr>
          <p:cNvSpPr>
            <a:spLocks xmlns:a="http://schemas.openxmlformats.org/drawingml/2006/main" noGrp="1"/>
          </p:cNvSpPr>
          <p:nvPr/>
        </p:nvSpPr>
        <p:spPr>
          <a:xfrm xmlns:a="http://schemas.openxmlformats.org/drawingml/2006/main">
            <a:off x="6448425" y="2085975"/>
            <a:ext cx="513397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Reference patches restrict “success”</a:t>
            </a:r>
          </a:p>
          <a:p xmlns:a="http://schemas.openxmlformats.org/drawingml/2006/main">
            <a:r>
              <a:t/>
            </a:r>
          </a:p>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Python uses one evaluated LLM</a:t>
            </a:r>
          </a:p>
          <a:p xmlns:a="http://schemas.openxmlformats.org/drawingml/2006/main">
            <a:r>
              <a:t/>
            </a:r>
          </a:p>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Available tests bound correctness evidence</a:t>
            </a:r>
          </a:p>
          <a:p xmlns:a="http://schemas.openxmlformats.org/drawingml/2006/main">
            <a:r>
              <a:t/>
            </a:r>
          </a:p>
          <a:p xmlns:a="http://schemas.openxmlformats.org/drawingml/2006/main">
            <a:pPr algn="l">
              <a:defRPr sz="2025" b="0">
                <a:solidFill>
                  <a:srgbClr val="26343D"/>
                </a:solidFill>
                <a:latin typeface="Arial"/>
                <a:ea typeface="Arial"/>
                <a:cs typeface="Arial"/>
              </a:defRPr>
            </a:pPr>
            <a:r>
              <a:rPr sz="2025" b="0">
                <a:solidFill>
                  <a:srgbClr val="26343D"/>
                </a:solidFill>
                <a:latin typeface="Arial"/>
                <a:ea typeface="Arial"/>
                <a:cs typeface="Arial"/>
              </a:rPr>
              <a:t>No described independent workload audit</a:t>
            </a:r>
          </a:p>
        </p:txBody>
      </p:sp>
      <p:sp>
        <p:nvSpPr>
          <p:cNvPr id="8" name="human-review">
            <a:extLst xmlns:a="http://schemas.openxmlformats.org/drawingml/2006/main">
              <a:ext uri="{FF2B5EF4-FFF2-40B4-BE49-F238E27FC236}">
                <a16:creationId xmlns:a16="http://schemas.microsoft.com/office/drawing/2014/main" id="{054370C1-2E08-49A8-A565-2202E94B12DB}"/>
              </a:ext>
            </a:extLst>
          </p:cNvPr>
          <p:cNvSpPr>
            <a:spLocks xmlns:a="http://schemas.openxmlformats.org/drawingml/2006/main" noGrp="1"/>
          </p:cNvSpPr>
          <p:nvPr/>
        </p:nvSpPr>
        <p:spPr>
          <a:xfrm xmlns:a="http://schemas.openxmlformats.org/drawingml/2006/main">
            <a:off x="609600" y="56673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B3A"/>
                </a:solidFill>
                <a:latin typeface="Arial"/>
                <a:ea typeface="Arial"/>
                <a:cs typeface="Arial"/>
              </a:defRPr>
            </a:pPr>
            <a:r>
              <a:rPr sz="2175" b="1">
                <a:solidFill>
                  <a:srgbClr val="172B3A"/>
                </a:solidFill>
                <a:latin typeface="Arial"/>
                <a:ea typeface="Arial"/>
                <a:cs typeface="Arial"/>
              </a:rPr>
              <a:t>The authors explicitly retain human review before adoption.</a:t>
            </a:r>
          </a:p>
        </p:txBody>
      </p:sp>
    </p:spTree>
    <p:extLst>
      <p:ext uri="{BB962C8B-B14F-4D97-AF65-F5344CB8AC3E}">
        <p14:creationId xmlns:p14="http://schemas.microsoft.com/office/powerpoint/2010/main" val="11070007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9909EC93-32B9-42F8-B9A9-F3A7FFB8CAD7}"/>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A proposed question for our PhD</a:t>
            </a:r>
          </a:p>
        </p:txBody>
      </p:sp>
      <p:sp>
        <p:nvSpPr>
          <p:cNvPr id="2" name="source">
            <a:extLst xmlns:a="http://schemas.openxmlformats.org/drawingml/2006/main">
              <a:ext uri="{FF2B5EF4-FFF2-40B4-BE49-F238E27FC236}">
                <a16:creationId xmlns:a16="http://schemas.microsoft.com/office/drawing/2014/main" id="{7616A2B0-1B56-4114-A241-9F4455B9170F}"/>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32-36. Related safeguards: [2] pp. 3-6 and 14; [3] pp. 4-9 and 14-17.</a:t>
            </a:r>
          </a:p>
        </p:txBody>
      </p:sp>
      <p:sp>
        <p:nvSpPr>
          <p:cNvPr id="3" name="page">
            <a:extLst xmlns:a="http://schemas.openxmlformats.org/drawingml/2006/main">
              <a:ext uri="{FF2B5EF4-FFF2-40B4-BE49-F238E27FC236}">
                <a16:creationId xmlns:a16="http://schemas.microsoft.com/office/drawing/2014/main" id="{87B1EB6A-8A10-4801-8A5A-B1DF5601EC33}"/>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13</a:t>
            </a:r>
          </a:p>
        </p:txBody>
      </p:sp>
      <p:sp>
        <p:nvSpPr>
          <p:cNvPr id="4" name="question">
            <a:extLst xmlns:a="http://schemas.openxmlformats.org/drawingml/2006/main">
              <a:ext uri="{FF2B5EF4-FFF2-40B4-BE49-F238E27FC236}">
                <a16:creationId xmlns:a16="http://schemas.microsoft.com/office/drawing/2014/main" id="{EEB21061-8F31-46DE-8496-6E9C5C429D63}"/>
              </a:ext>
            </a:extLst>
          </p:cNvPr>
          <p:cNvSpPr>
            <a:spLocks xmlns:a="http://schemas.openxmlformats.org/drawingml/2006/main" noGrp="1"/>
          </p:cNvSpPr>
          <p:nvPr/>
        </p:nvSpPr>
        <p:spPr>
          <a:xfrm xmlns:a="http://schemas.openxmlformats.org/drawingml/2006/main">
            <a:off x="609600" y="1562100"/>
            <a:ext cx="108775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66B78"/>
                </a:solidFill>
                <a:latin typeface="Arial"/>
                <a:ea typeface="Arial"/>
                <a:cs typeface="Arial"/>
              </a:defRPr>
            </a:pPr>
            <a:r>
              <a:rPr sz="3000" b="1">
                <a:solidFill>
                  <a:srgbClr val="166B78"/>
                </a:solidFill>
                <a:latin typeface="Arial"/>
                <a:ea typeface="Arial"/>
                <a:cs typeface="Arial"/>
              </a:rPr>
              <a:t>How often do accepted Python edits fail</a:t>
            </a:r>
          </a:p>
          <a:p xmlns:a="http://schemas.openxmlformats.org/drawingml/2006/main">
            <a:pPr algn="l">
              <a:defRPr sz="3000" b="1">
                <a:solidFill>
                  <a:srgbClr val="166B78"/>
                </a:solidFill>
                <a:latin typeface="Arial"/>
                <a:ea typeface="Arial"/>
                <a:cs typeface="Arial"/>
              </a:defRPr>
            </a:pPr>
            <a:r>
              <a:rPr sz="3000" b="1">
                <a:solidFill>
                  <a:srgbClr val="166B78"/>
                </a:solidFill>
                <a:latin typeface="Arial"/>
                <a:ea typeface="Arial"/>
                <a:cs typeface="Arial"/>
              </a:rPr>
              <a:t>independent correctness or performance checks?</a:t>
            </a:r>
          </a:p>
        </p:txBody>
      </p:sp>
      <p:sp>
        <p:nvSpPr>
          <p:cNvPr id="5" name="unit-heading">
            <a:extLst xmlns:a="http://schemas.openxmlformats.org/drawingml/2006/main">
              <a:ext uri="{FF2B5EF4-FFF2-40B4-BE49-F238E27FC236}">
                <a16:creationId xmlns:a16="http://schemas.microsoft.com/office/drawing/2014/main" id="{48E9B1DF-05B0-46FF-BC0C-9B5082984406}"/>
              </a:ext>
            </a:extLst>
          </p:cNvPr>
          <p:cNvSpPr>
            <a:spLocks xmlns:a="http://schemas.openxmlformats.org/drawingml/2006/main" noGrp="1"/>
          </p:cNvSpPr>
          <p:nvPr/>
        </p:nvSpPr>
        <p:spPr>
          <a:xfrm xmlns:a="http://schemas.openxmlformats.org/drawingml/2006/main">
            <a:off x="609600" y="3305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Unit of study</a:t>
            </a:r>
          </a:p>
        </p:txBody>
      </p:sp>
      <p:sp>
        <p:nvSpPr>
          <p:cNvPr id="6" name="unit-body">
            <a:extLst xmlns:a="http://schemas.openxmlformats.org/drawingml/2006/main">
              <a:ext uri="{FF2B5EF4-FFF2-40B4-BE49-F238E27FC236}">
                <a16:creationId xmlns:a16="http://schemas.microsoft.com/office/drawing/2014/main" id="{40F792A9-74BD-4895-A4AD-DB4FF5F1F485}"/>
              </a:ext>
            </a:extLst>
          </p:cNvPr>
          <p:cNvSpPr>
            <a:spLocks xmlns:a="http://schemas.openxmlformats.org/drawingml/2006/main" noGrp="1"/>
          </p:cNvSpPr>
          <p:nvPr/>
        </p:nvSpPr>
        <p:spPr>
          <a:xfrm xmlns:a="http://schemas.openxmlformats.org/drawingml/2006/main">
            <a:off x="609600" y="37242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An original-candidate pair under a declared behavior contract, workload, environment, and improvement threshold.</a:t>
            </a:r>
          </a:p>
        </p:txBody>
      </p:sp>
      <p:sp>
        <p:nvSpPr>
          <p:cNvPr id="7" name="hypothesis-heading">
            <a:extLst xmlns:a="http://schemas.openxmlformats.org/drawingml/2006/main">
              <a:ext uri="{FF2B5EF4-FFF2-40B4-BE49-F238E27FC236}">
                <a16:creationId xmlns:a16="http://schemas.microsoft.com/office/drawing/2014/main" id="{0C8AA3C6-9966-462E-ABDD-E94A6CB08C04}"/>
              </a:ext>
            </a:extLst>
          </p:cNvPr>
          <p:cNvSpPr>
            <a:spLocks xmlns:a="http://schemas.openxmlformats.org/drawingml/2006/main" noGrp="1"/>
          </p:cNvSpPr>
          <p:nvPr/>
        </p:nvSpPr>
        <p:spPr>
          <a:xfrm xmlns:a="http://schemas.openxmlformats.org/drawingml/2006/main">
            <a:off x="609600" y="47148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Hypothesis to test</a:t>
            </a:r>
          </a:p>
        </p:txBody>
      </p:sp>
      <p:sp>
        <p:nvSpPr>
          <p:cNvPr id="8" name="hypothesis-body">
            <a:extLst xmlns:a="http://schemas.openxmlformats.org/drawingml/2006/main">
              <a:ext uri="{FF2B5EF4-FFF2-40B4-BE49-F238E27FC236}">
                <a16:creationId xmlns:a16="http://schemas.microsoft.com/office/drawing/2014/main" id="{BF738F2E-0549-49AE-932E-D137510CF040}"/>
              </a:ext>
            </a:extLst>
          </p:cNvPr>
          <p:cNvSpPr>
            <a:spLocks xmlns:a="http://schemas.openxmlformats.org/drawingml/2006/main" noGrp="1"/>
          </p:cNvSpPr>
          <p:nvPr/>
        </p:nvSpPr>
        <p:spPr>
          <a:xfrm xmlns:a="http://schemas.openxmlformats.org/drawingml/2006/main">
            <a:off x="609600" y="5133975"/>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Selection tests may miss harmful edits. Independent evidence may change an accept or reject decision.</a:t>
            </a:r>
          </a:p>
        </p:txBody>
      </p:sp>
      <p:sp>
        <p:nvSpPr>
          <p:cNvPr id="9" name="novelty">
            <a:extLst xmlns:a="http://schemas.openxmlformats.org/drawingml/2006/main">
              <a:ext uri="{FF2B5EF4-FFF2-40B4-BE49-F238E27FC236}">
                <a16:creationId xmlns:a16="http://schemas.microsoft.com/office/drawing/2014/main" id="{8D4D4D1B-C2C2-4670-A777-21EC2620BC53}"/>
              </a:ext>
            </a:extLst>
          </p:cNvPr>
          <p:cNvSpPr>
            <a:spLocks xmlns:a="http://schemas.openxmlformats.org/drawingml/2006/main" noGrp="1"/>
          </p:cNvSpPr>
          <p:nvPr/>
        </p:nvSpPr>
        <p:spPr>
          <a:xfrm xmlns:a="http://schemas.openxmlformats.org/drawingml/2006/main">
            <a:off x="609600" y="57721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Novelty requires a wider literature review and evidence that the problem matters.</a:t>
            </a:r>
          </a:p>
        </p:txBody>
      </p:sp>
    </p:spTree>
    <p:extLst>
      <p:ext uri="{BB962C8B-B14F-4D97-AF65-F5344CB8AC3E}">
        <p14:creationId xmlns:p14="http://schemas.microsoft.com/office/powerpoint/2010/main" val="8708972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17E28B08-144B-4B2B-ABF0-3A19BE0DD7C8}"/>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A controlled first pilot</a:t>
            </a:r>
          </a:p>
        </p:txBody>
      </p:sp>
      <p:sp>
        <p:nvSpPr>
          <p:cNvPr id="2" name="source">
            <a:extLst xmlns:a="http://schemas.openxmlformats.org/drawingml/2006/main">
              <a:ext uri="{FF2B5EF4-FFF2-40B4-BE49-F238E27FC236}">
                <a16:creationId xmlns:a16="http://schemas.microsoft.com/office/drawing/2014/main" id="{89ADB6FF-0199-493D-878F-84301F31C46B}"/>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Proposed study design. Baseline gate: [1] pp. 32-33. Input-scale testing: [3] pp. 6-9.</a:t>
            </a:r>
          </a:p>
        </p:txBody>
      </p:sp>
      <p:sp>
        <p:nvSpPr>
          <p:cNvPr id="3" name="page">
            <a:extLst xmlns:a="http://schemas.openxmlformats.org/drawingml/2006/main">
              <a:ext uri="{FF2B5EF4-FFF2-40B4-BE49-F238E27FC236}">
                <a16:creationId xmlns:a16="http://schemas.microsoft.com/office/drawing/2014/main" id="{FDE2AFBA-7B85-4689-A7BF-4B02404E0692}"/>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14</a:t>
            </a:r>
          </a:p>
        </p:txBody>
      </p:sp>
      <p:sp>
        <p:nvSpPr>
          <p:cNvPr id="4" name="pool-heading">
            <a:extLst xmlns:a="http://schemas.openxmlformats.org/drawingml/2006/main">
              <a:ext uri="{FF2B5EF4-FFF2-40B4-BE49-F238E27FC236}">
                <a16:creationId xmlns:a16="http://schemas.microsoft.com/office/drawing/2014/main" id="{D7856268-326D-4922-BE6E-D592DEA3D99B}"/>
              </a:ext>
            </a:extLst>
          </p:cNvPr>
          <p:cNvSpPr>
            <a:spLocks xmlns:a="http://schemas.openxmlformats.org/drawingml/2006/main" noGrp="1"/>
          </p:cNvSpPr>
          <p:nvPr/>
        </p:nvSpPr>
        <p:spPr>
          <a:xfrm xmlns:a="http://schemas.openxmlformats.org/drawingml/2006/main">
            <a:off x="609600" y="13906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Same candidate pool for every rule</a:t>
            </a:r>
          </a:p>
        </p:txBody>
      </p:sp>
      <p:sp>
        <p:nvSpPr>
          <p:cNvPr id="5" name="pool-body">
            <a:extLst xmlns:a="http://schemas.openxmlformats.org/drawingml/2006/main">
              <a:ext uri="{FF2B5EF4-FFF2-40B4-BE49-F238E27FC236}">
                <a16:creationId xmlns:a16="http://schemas.microsoft.com/office/drawing/2014/main" id="{4A4334F4-34D5-4E9D-9A77-30B0755B585C}"/>
              </a:ext>
            </a:extLst>
          </p:cNvPr>
          <p:cNvSpPr>
            <a:spLocks xmlns:a="http://schemas.openxmlformats.org/drawingml/2006/main" noGrp="1"/>
          </p:cNvSpPr>
          <p:nvPr/>
        </p:nvSpPr>
        <p:spPr>
          <a:xfrm xmlns:a="http://schemas.openxmlformats.org/drawingml/2006/main">
            <a:off x="609600" y="18097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Start with 20-30 Python functions across several repositories as a feasibility batch.</a:t>
            </a:r>
          </a:p>
        </p:txBody>
      </p:sp>
      <p:sp>
        <p:nvSpPr>
          <p:cNvPr id="6" name="separation-heading">
            <a:extLst xmlns:a="http://schemas.openxmlformats.org/drawingml/2006/main">
              <a:ext uri="{FF2B5EF4-FFF2-40B4-BE49-F238E27FC236}">
                <a16:creationId xmlns:a16="http://schemas.microsoft.com/office/drawing/2014/main" id="{5E423EAB-D113-4C0F-BC5F-8AE1BE322D26}"/>
              </a:ext>
            </a:extLst>
          </p:cNvPr>
          <p:cNvSpPr>
            <a:spLocks xmlns:a="http://schemas.openxmlformats.org/drawingml/2006/main" noGrp="1"/>
          </p:cNvSpPr>
          <p:nvPr/>
        </p:nvSpPr>
        <p:spPr>
          <a:xfrm xmlns:a="http://schemas.openxmlformats.org/drawingml/2006/main">
            <a:off x="609600" y="252412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Independent workloads</a:t>
            </a:r>
          </a:p>
        </p:txBody>
      </p:sp>
      <p:sp>
        <p:nvSpPr>
          <p:cNvPr id="7" name="separation-body">
            <a:extLst xmlns:a="http://schemas.openxmlformats.org/drawingml/2006/main">
              <a:ext uri="{FF2B5EF4-FFF2-40B4-BE49-F238E27FC236}">
                <a16:creationId xmlns:a16="http://schemas.microsoft.com/office/drawing/2014/main" id="{04143C8B-F3CA-4A18-BD44-7AF3DF1B36C5}"/>
              </a:ext>
            </a:extLst>
          </p:cNvPr>
          <p:cNvSpPr>
            <a:spLocks xmlns:a="http://schemas.openxmlformats.org/drawingml/2006/main" noGrp="1"/>
          </p:cNvSpPr>
          <p:nvPr/>
        </p:nvSpPr>
        <p:spPr>
          <a:xfrm xmlns:a="http://schemas.openxmlformats.org/drawingml/2006/main">
            <a:off x="609600" y="294322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Separate generation/tuning inputs, decision inputs, and final audit inputs.</a:t>
            </a:r>
          </a:p>
        </p:txBody>
      </p:sp>
      <p:sp>
        <p:nvSpPr>
          <p:cNvPr id="8" name="comparison-heading">
            <a:extLst xmlns:a="http://schemas.openxmlformats.org/drawingml/2006/main">
              <a:ext uri="{FF2B5EF4-FFF2-40B4-BE49-F238E27FC236}">
                <a16:creationId xmlns:a16="http://schemas.microsoft.com/office/drawing/2014/main" id="{832B0234-F530-4038-949A-5C01E1B90D85}"/>
              </a:ext>
            </a:extLst>
          </p:cNvPr>
          <p:cNvSpPr>
            <a:spLocks xmlns:a="http://schemas.openxmlformats.org/drawingml/2006/main" noGrp="1"/>
          </p:cNvSpPr>
          <p:nvPr/>
        </p:nvSpPr>
        <p:spPr>
          <a:xfrm xmlns:a="http://schemas.openxmlformats.org/drawingml/2006/main">
            <a:off x="609600" y="36099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Decision rules to compare</a:t>
            </a:r>
          </a:p>
        </p:txBody>
      </p:sp>
      <p:sp>
        <p:nvSpPr>
          <p:cNvPr id="9" name="comparison-body">
            <a:extLst xmlns:a="http://schemas.openxmlformats.org/drawingml/2006/main">
              <a:ext uri="{FF2B5EF4-FFF2-40B4-BE49-F238E27FC236}">
                <a16:creationId xmlns:a16="http://schemas.microsoft.com/office/drawing/2014/main" id="{25F888FF-C9C9-4619-996C-73B8E7AD1AC9}"/>
              </a:ext>
            </a:extLst>
          </p:cNvPr>
          <p:cNvSpPr>
            <a:spLocks xmlns:a="http://schemas.openxmlformats.org/drawingml/2006/main" noGrp="1"/>
          </p:cNvSpPr>
          <p:nvPr/>
        </p:nvSpPr>
        <p:spPr>
          <a:xfrm xmlns:a="http://schemas.openxmlformats.org/drawingml/2006/main">
            <a:off x="609600" y="4029075"/>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SemOpt-style gate, the same gate with more measurements, and a confidence-interval gate that can defer a decision.</a:t>
            </a:r>
          </a:p>
        </p:txBody>
      </p:sp>
      <p:sp>
        <p:nvSpPr>
          <p:cNvPr id="10" name="outcomes-heading">
            <a:extLst xmlns:a="http://schemas.openxmlformats.org/drawingml/2006/main">
              <a:ext uri="{FF2B5EF4-FFF2-40B4-BE49-F238E27FC236}">
                <a16:creationId xmlns:a16="http://schemas.microsoft.com/office/drawing/2014/main" id="{0E05A9C3-064A-4F24-AE30-4C52FB31ACD5}"/>
              </a:ext>
            </a:extLst>
          </p:cNvPr>
          <p:cNvSpPr>
            <a:spLocks xmlns:a="http://schemas.openxmlformats.org/drawingml/2006/main" noGrp="1"/>
          </p:cNvSpPr>
          <p:nvPr/>
        </p:nvSpPr>
        <p:spPr>
          <a:xfrm xmlns:a="http://schemas.openxmlformats.org/drawingml/2006/main">
            <a:off x="609600" y="49149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Outcomes</a:t>
            </a:r>
          </a:p>
        </p:txBody>
      </p:sp>
      <p:sp>
        <p:nvSpPr>
          <p:cNvPr id="11" name="outcomes-body">
            <a:extLst xmlns:a="http://schemas.openxmlformats.org/drawingml/2006/main">
              <a:ext uri="{FF2B5EF4-FFF2-40B4-BE49-F238E27FC236}">
                <a16:creationId xmlns:a16="http://schemas.microsoft.com/office/drawing/2014/main" id="{F4111945-7575-41AC-8ED5-DAE4D41EB558}"/>
              </a:ext>
            </a:extLst>
          </p:cNvPr>
          <p:cNvSpPr>
            <a:spLocks xmlns:a="http://schemas.openxmlformats.org/drawingml/2006/main" noGrp="1"/>
          </p:cNvSpPr>
          <p:nvPr/>
        </p:nvSpPr>
        <p:spPr>
          <a:xfrm xmlns:a="http://schemas.openxmlformats.org/drawingml/2006/main">
            <a:off x="609600" y="5334000"/>
            <a:ext cx="10810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Behavioral failures and regressions, unconfirmed benefits, missed useful edits, unresolved measurements, and decision cost.</a:t>
            </a:r>
          </a:p>
        </p:txBody>
      </p:sp>
    </p:spTree>
    <p:extLst>
      <p:ext uri="{BB962C8B-B14F-4D97-AF65-F5344CB8AC3E}">
        <p14:creationId xmlns:p14="http://schemas.microsoft.com/office/powerpoint/2010/main" val="7634390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4736A4E-AB9B-4614-BAA6-67535AC516F7}"/>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Advisor discussion</a:t>
            </a:r>
          </a:p>
        </p:txBody>
      </p:sp>
      <p:sp>
        <p:nvSpPr>
          <p:cNvPr id="2" name="source">
            <a:extLst xmlns:a="http://schemas.openxmlformats.org/drawingml/2006/main">
              <a:ext uri="{FF2B5EF4-FFF2-40B4-BE49-F238E27FC236}">
                <a16:creationId xmlns:a16="http://schemas.microsoft.com/office/drawing/2014/main" id="{77DDAAA4-A05A-4C67-A4F1-DFE7711A91F2}"/>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Presenter proposal, informed by [1]-[3]. No novelty or publication claim is established here.</a:t>
            </a:r>
          </a:p>
        </p:txBody>
      </p:sp>
      <p:sp>
        <p:nvSpPr>
          <p:cNvPr id="3" name="page">
            <a:extLst xmlns:a="http://schemas.openxmlformats.org/drawingml/2006/main">
              <a:ext uri="{FF2B5EF4-FFF2-40B4-BE49-F238E27FC236}">
                <a16:creationId xmlns:a16="http://schemas.microsoft.com/office/drawing/2014/main" id="{A4B9FF1F-B76E-4F33-AC4D-8FE469BCDC51}"/>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15</a:t>
            </a:r>
          </a:p>
        </p:txBody>
      </p:sp>
      <p:sp>
        <p:nvSpPr>
          <p:cNvPr id="4" name="recommendation">
            <a:extLst xmlns:a="http://schemas.openxmlformats.org/drawingml/2006/main">
              <a:ext uri="{FF2B5EF4-FFF2-40B4-BE49-F238E27FC236}">
                <a16:creationId xmlns:a16="http://schemas.microsoft.com/office/drawing/2014/main" id="{A413174D-0A32-482F-A80C-D6372DEBDB99}"/>
              </a:ext>
            </a:extLst>
          </p:cNvPr>
          <p:cNvSpPr>
            <a:spLocks xmlns:a="http://schemas.openxmlformats.org/drawingml/2006/main" noGrp="1"/>
          </p:cNvSpPr>
          <p:nvPr/>
        </p:nvSpPr>
        <p:spPr>
          <a:xfrm xmlns:a="http://schemas.openxmlformats.org/drawingml/2006/main">
            <a:off x="609600" y="15049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66B78"/>
                </a:solidFill>
                <a:latin typeface="Arial"/>
                <a:ea typeface="Arial"/>
                <a:cs typeface="Arial"/>
              </a:defRPr>
            </a:pPr>
            <a:r>
              <a:rPr sz="3000" b="1">
                <a:solidFill>
                  <a:srgbClr val="166B78"/>
                </a:solidFill>
                <a:latin typeface="Arial"/>
                <a:ea typeface="Arial"/>
                <a:cs typeface="Arial"/>
              </a:rPr>
              <a:t>Proposed next step: audit existing decisions</a:t>
            </a:r>
          </a:p>
          <a:p xmlns:a="http://schemas.openxmlformats.org/drawingml/2006/main">
            <a:pPr algn="l">
              <a:defRPr sz="3000" b="1">
                <a:solidFill>
                  <a:srgbClr val="166B78"/>
                </a:solidFill>
                <a:latin typeface="Arial"/>
                <a:ea typeface="Arial"/>
                <a:cs typeface="Arial"/>
              </a:defRPr>
            </a:pPr>
            <a:r>
              <a:rPr sz="3000" b="1">
                <a:solidFill>
                  <a:srgbClr val="166B78"/>
                </a:solidFill>
                <a:latin typeface="Arial"/>
                <a:ea typeface="Arial"/>
                <a:cs typeface="Arial"/>
              </a:rPr>
              <a:t>before designing a new acceptance method.</a:t>
            </a:r>
          </a:p>
        </p:txBody>
      </p:sp>
      <p:sp>
        <p:nvSpPr>
          <p:cNvPr id="5" name="scope-heading">
            <a:extLst xmlns:a="http://schemas.openxmlformats.org/drawingml/2006/main">
              <a:ext uri="{FF2B5EF4-FFF2-40B4-BE49-F238E27FC236}">
                <a16:creationId xmlns:a16="http://schemas.microsoft.com/office/drawing/2014/main" id="{5029D70C-F8B0-442A-BEFF-BEBD653AA9E6}"/>
              </a:ext>
            </a:extLst>
          </p:cNvPr>
          <p:cNvSpPr>
            <a:spLocks xmlns:a="http://schemas.openxmlformats.org/drawingml/2006/main" noGrp="1"/>
          </p:cNvSpPr>
          <p:nvPr/>
        </p:nvSpPr>
        <p:spPr>
          <a:xfrm xmlns:a="http://schemas.openxmlformats.org/drawingml/2006/main">
            <a:off x="609600" y="3171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Initial scope</a:t>
            </a:r>
          </a:p>
        </p:txBody>
      </p:sp>
      <p:sp>
        <p:nvSpPr>
          <p:cNvPr id="6" name="scope-body">
            <a:extLst xmlns:a="http://schemas.openxmlformats.org/drawingml/2006/main">
              <a:ext uri="{FF2B5EF4-FFF2-40B4-BE49-F238E27FC236}">
                <a16:creationId xmlns:a16="http://schemas.microsoft.com/office/drawing/2014/main" id="{D29989D6-2DB5-4CA0-842A-F1B0A9FDA77B}"/>
              </a:ext>
            </a:extLst>
          </p:cNvPr>
          <p:cNvSpPr>
            <a:spLocks xmlns:a="http://schemas.openxmlformats.org/drawingml/2006/main" noGrp="1"/>
          </p:cNvSpPr>
          <p:nvPr/>
        </p:nvSpPr>
        <p:spPr>
          <a:xfrm xmlns:a="http://schemas.openxmlformats.org/drawingml/2006/main">
            <a:off x="609600" y="3590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Python functions first, followed by project-level and iterative validation if the pilot justifies it.</a:t>
            </a:r>
          </a:p>
        </p:txBody>
      </p:sp>
      <p:sp>
        <p:nvSpPr>
          <p:cNvPr id="7" name="bar-heading">
            <a:extLst xmlns:a="http://schemas.openxmlformats.org/drawingml/2006/main">
              <a:ext uri="{FF2B5EF4-FFF2-40B4-BE49-F238E27FC236}">
                <a16:creationId xmlns:a16="http://schemas.microsoft.com/office/drawing/2014/main" id="{9580BBFD-1CF8-4AB2-8C59-E7C78514C946}"/>
              </a:ext>
            </a:extLst>
          </p:cNvPr>
          <p:cNvSpPr>
            <a:spLocks xmlns:a="http://schemas.openxmlformats.org/drawingml/2006/main" noGrp="1"/>
          </p:cNvSpPr>
          <p:nvPr/>
        </p:nvSpPr>
        <p:spPr>
          <a:xfrm xmlns:a="http://schemas.openxmlformats.org/drawingml/2006/main">
            <a:off x="609600" y="45243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Evidence needed to continue</a:t>
            </a:r>
          </a:p>
        </p:txBody>
      </p:sp>
      <p:sp>
        <p:nvSpPr>
          <p:cNvPr id="8" name="bar-body">
            <a:extLst xmlns:a="http://schemas.openxmlformats.org/drawingml/2006/main">
              <a:ext uri="{FF2B5EF4-FFF2-40B4-BE49-F238E27FC236}">
                <a16:creationId xmlns:a16="http://schemas.microsoft.com/office/drawing/2014/main" id="{5389BE60-E7A1-4A00-9F3E-0FDB1B2F0A4D}"/>
              </a:ext>
            </a:extLst>
          </p:cNvPr>
          <p:cNvSpPr>
            <a:spLocks xmlns:a="http://schemas.openxmlformats.org/drawingml/2006/main" noGrp="1"/>
          </p:cNvSpPr>
          <p:nvPr/>
        </p:nvSpPr>
        <p:spPr>
          <a:xfrm xmlns:a="http://schemas.openxmlformats.org/drawingml/2006/main">
            <a:off x="609600" y="49434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Reproducible harmful approvals or missed benefits, with an independent audit and a fair measurement budget.</a:t>
            </a:r>
          </a:p>
        </p:txBody>
      </p:sp>
      <p:sp>
        <p:nvSpPr>
          <p:cNvPr id="9" name="decision">
            <a:extLst xmlns:a="http://schemas.openxmlformats.org/drawingml/2006/main">
              <a:ext uri="{FF2B5EF4-FFF2-40B4-BE49-F238E27FC236}">
                <a16:creationId xmlns:a16="http://schemas.microsoft.com/office/drawing/2014/main" id="{46079B33-4E4F-4717-90B8-241C820D297F}"/>
              </a:ext>
            </a:extLst>
          </p:cNvPr>
          <p:cNvSpPr>
            <a:spLocks xmlns:a="http://schemas.openxmlformats.org/drawingml/2006/main" noGrp="1"/>
          </p:cNvSpPr>
          <p:nvPr/>
        </p:nvSpPr>
        <p:spPr>
          <a:xfrm xmlns:a="http://schemas.openxmlformats.org/drawingml/2006/main">
            <a:off x="609600" y="571500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B3A"/>
                </a:solidFill>
                <a:latin typeface="Arial"/>
                <a:ea typeface="Arial"/>
                <a:cs typeface="Arial"/>
              </a:defRPr>
            </a:pPr>
            <a:r>
              <a:rPr sz="2025" b="1">
                <a:solidFill>
                  <a:srgbClr val="172B3A"/>
                </a:solidFill>
                <a:latin typeface="Arial"/>
                <a:ea typeface="Arial"/>
                <a:cs typeface="Arial"/>
              </a:rPr>
              <a:t>If the audit finds little room for improvement, revise the research direction.</a:t>
            </a:r>
          </a:p>
        </p:txBody>
      </p:sp>
    </p:spTree>
    <p:extLst>
      <p:ext uri="{BB962C8B-B14F-4D97-AF65-F5344CB8AC3E}">
        <p14:creationId xmlns:p14="http://schemas.microsoft.com/office/powerpoint/2010/main" val="11297852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9AE5A79-9C62-47C8-B771-9C844708D326}"/>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Backup: metric definitions</a:t>
            </a:r>
          </a:p>
        </p:txBody>
      </p:sp>
      <p:sp>
        <p:nvSpPr>
          <p:cNvPr id="2" name="source">
            <a:extLst xmlns:a="http://schemas.openxmlformats.org/drawingml/2006/main">
              <a:ext uri="{FF2B5EF4-FFF2-40B4-BE49-F238E27FC236}">
                <a16:creationId xmlns:a16="http://schemas.microsoft.com/office/drawing/2014/main" id="{BB4D41D5-959F-472D-A92F-C5CD7BC15861}"/>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18, 21, 24, 31-34. Conversion calculated from the paper's metric.</a:t>
            </a:r>
          </a:p>
        </p:txBody>
      </p:sp>
      <p:sp>
        <p:nvSpPr>
          <p:cNvPr id="3" name="page">
            <a:extLst xmlns:a="http://schemas.openxmlformats.org/drawingml/2006/main">
              <a:ext uri="{FF2B5EF4-FFF2-40B4-BE49-F238E27FC236}">
                <a16:creationId xmlns:a16="http://schemas.microsoft.com/office/drawing/2014/main" id="{A8C86655-2173-4056-B60A-7FDAE31259A0}"/>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16</a:t>
            </a:r>
          </a:p>
        </p:txBody>
      </p:sp>
      <p:graphicFrame>
        <p:nvGraphicFramePr>
          <p:cNvPr id="10" name=""/>
          <p:cNvGraphicFramePr/>
          <p:nvPr/>
        </p:nvGraphicFramePr>
        <p:xfrm>
          <a:off xmlns:a="http://schemas.openxmlformats.org/drawingml/2006/main" x="609600" y="1485900"/>
          <a:ext xmlns:a="http://schemas.openxmlformats.org/drawingml/2006/main" cx="10972800" cy="3028950"/>
        </p:xfrm>
        <a:graphic xmlns:a="http://schemas.openxmlformats.org/drawingml/2006/main">
          <a:graphicData uri="http://schemas.openxmlformats.org/drawingml/2006/table">
            <a:tbl>
              <a:tblPr/>
              <a:tblGrid>
                <a:gridCol w="2305050"/>
                <a:gridCol w="5505450"/>
                <a:gridCol w="3162300"/>
              </a:tblGrid>
              <a:tr h="605790">
                <a:tc>
                  <a:txBody>
                    <a:bodyPr>
                      <a:noAutofit/>
                    </a:bodyPr>
                    <a:lstStyle/>
                    <a:p>
                      <a:r>
                        <a:rPr sz="1800" b="1">
                          <a:solidFill>
                            <a:srgbClr val="172B3A"/>
                          </a:solidFill>
                          <a:latin typeface="Arial"/>
                          <a:ea typeface="Arial"/>
                          <a:cs typeface="Arial"/>
                        </a:rPr>
                        <a:t>Metric</a:t>
                      </a:r>
                    </a:p>
                  </a:txBody>
                  <a:tcPr marL="133350" marR="133350" marT="85725" marB="85725" anchor="ctr">
                    <a:solidFill>
                      <a:srgbClr val="F2F5F6"/>
                    </a:solidFill>
                  </a:tcPr>
                </a:tc>
                <a:tc>
                  <a:txBody>
                    <a:bodyPr>
                      <a:noAutofit/>
                    </a:bodyPr>
                    <a:lstStyle/>
                    <a:p>
                      <a:r>
                        <a:rPr sz="1800" b="1">
                          <a:solidFill>
                            <a:srgbClr val="172B3A"/>
                          </a:solidFill>
                          <a:latin typeface="Arial"/>
                          <a:ea typeface="Arial"/>
                          <a:cs typeface="Arial"/>
                        </a:rPr>
                        <a:t>Meaning</a:t>
                      </a:r>
                    </a:p>
                  </a:txBody>
                  <a:tcPr marL="133350" marR="133350" marT="85725" marB="85725" anchor="ctr">
                    <a:solidFill>
                      <a:srgbClr val="F2F5F6"/>
                    </a:solidFill>
                  </a:tcPr>
                </a:tc>
                <a:tc>
                  <a:txBody>
                    <a:bodyPr>
                      <a:noAutofit/>
                    </a:bodyPr>
                    <a:lstStyle/>
                    <a:p>
                      <a:r>
                        <a:rPr sz="1800" b="1">
                          <a:solidFill>
                            <a:srgbClr val="172B3A"/>
                          </a:solidFill>
                          <a:latin typeface="Arial"/>
                          <a:ea typeface="Arial"/>
                          <a:cs typeface="Arial"/>
                        </a:rPr>
                        <a:t>Reported example</a:t>
                      </a:r>
                    </a:p>
                  </a:txBody>
                  <a:tcPr marL="133350" marR="133350" marT="85725" marB="85725" anchor="ctr">
                    <a:solidFill>
                      <a:srgbClr val="F2F5F6"/>
                    </a:solidFill>
                  </a:tcPr>
                </a:tc>
              </a:tr>
              <a:tr h="605790">
                <a:tc>
                  <a:txBody>
                    <a:bodyPr>
                      <a:noAutofit/>
                    </a:bodyPr>
                    <a:lstStyle/>
                    <a:p>
                      <a:r>
                        <a:rPr sz="1800" b="0">
                          <a:solidFill>
                            <a:srgbClr val="26343D"/>
                          </a:solidFill>
                          <a:latin typeface="Arial"/>
                          <a:ea typeface="Arial"/>
                          <a:cs typeface="Arial"/>
                        </a:rPr>
                        <a:t>Exact match</a:t>
                      </a:r>
                    </a:p>
                  </a:txBody>
                  <a:tcPr marL="133350" marR="133350" marT="85725" marB="85725" anchor="ctr">
                    <a:solidFill>
                      <a:srgbClr val="FFFFFF"/>
                    </a:solidFill>
                  </a:tcPr>
                </a:tc>
                <a:tc>
                  <a:txBody>
                    <a:bodyPr>
                      <a:noAutofit/>
                    </a:bodyPr>
                    <a:lstStyle/>
                    <a:p>
                      <a:r>
                        <a:rPr sz="1800" b="0">
                          <a:solidFill>
                            <a:srgbClr val="26343D"/>
                          </a:solidFill>
                          <a:latin typeface="Arial"/>
                          <a:ea typeface="Arial"/>
                          <a:cs typeface="Arial"/>
                        </a:rPr>
                        <a:t>Normalized code equals the developer edit</a:t>
                      </a:r>
                    </a:p>
                  </a:txBody>
                  <a:tcPr marL="133350" marR="133350" marT="85725" marB="85725" anchor="ctr">
                    <a:solidFill>
                      <a:srgbClr val="FFFFFF"/>
                    </a:solidFill>
                  </a:tcPr>
                </a:tc>
                <a:tc>
                  <a:txBody>
                    <a:bodyPr>
                      <a:noAutofit/>
                    </a:bodyPr>
                    <a:lstStyle/>
                    <a:p>
                      <a:r>
                        <a:rPr sz="1800" b="0">
                          <a:solidFill>
                            <a:srgbClr val="26343D"/>
                          </a:solidFill>
                          <a:latin typeface="Arial"/>
                          <a:ea typeface="Arial"/>
                          <a:cs typeface="Arial"/>
                        </a:rPr>
                        <a:t>Python 38/150</a:t>
                      </a:r>
                    </a:p>
                  </a:txBody>
                  <a:tcPr marL="133350" marR="133350" marT="85725" marB="85725" anchor="ctr">
                    <a:solidFill>
                      <a:srgbClr val="FFFFFF"/>
                    </a:solidFill>
                  </a:tcPr>
                </a:tc>
              </a:tr>
              <a:tr h="605790">
                <a:tc>
                  <a:txBody>
                    <a:bodyPr>
                      <a:noAutofit/>
                    </a:bodyPr>
                    <a:lstStyle/>
                    <a:p>
                      <a:r>
                        <a:rPr sz="1800" b="0">
                          <a:solidFill>
                            <a:srgbClr val="26343D"/>
                          </a:solidFill>
                          <a:latin typeface="Arial"/>
                          <a:ea typeface="Arial"/>
                          <a:cs typeface="Arial"/>
                        </a:rPr>
                        <a:t>SemEqv</a:t>
                      </a:r>
                    </a:p>
                  </a:txBody>
                  <a:tcPr marL="133350" marR="133350" marT="85725" marB="85725" anchor="ctr">
                    <a:solidFill>
                      <a:srgbClr val="FFFFFF"/>
                    </a:solidFill>
                  </a:tcPr>
                </a:tc>
                <a:tc>
                  <a:txBody>
                    <a:bodyPr>
                      <a:noAutofit/>
                    </a:bodyPr>
                    <a:lstStyle/>
                    <a:p>
                      <a:r>
                        <a:rPr sz="1800" b="0">
                          <a:solidFill>
                            <a:srgbClr val="26343D"/>
                          </a:solidFill>
                          <a:latin typeface="Arial"/>
                          <a:ea typeface="Arial"/>
                          <a:cs typeface="Arial"/>
                        </a:rPr>
                        <a:t>At least one reference-equivalent candidate</a:t>
                      </a:r>
                    </a:p>
                  </a:txBody>
                  <a:tcPr marL="133350" marR="133350" marT="85725" marB="85725" anchor="ctr">
                    <a:solidFill>
                      <a:srgbClr val="FFFFFF"/>
                    </a:solidFill>
                  </a:tcPr>
                </a:tc>
                <a:tc>
                  <a:txBody>
                    <a:bodyPr>
                      <a:noAutofit/>
                    </a:bodyPr>
                    <a:lstStyle/>
                    <a:p>
                      <a:r>
                        <a:rPr sz="1800" b="0">
                          <a:solidFill>
                            <a:srgbClr val="26343D"/>
                          </a:solidFill>
                          <a:latin typeface="Arial"/>
                          <a:ea typeface="Arial"/>
                          <a:cs typeface="Arial"/>
                        </a:rPr>
                        <a:t>Python 69/150</a:t>
                      </a:r>
                    </a:p>
                  </a:txBody>
                  <a:tcPr marL="133350" marR="133350" marT="85725" marB="85725" anchor="ctr">
                    <a:solidFill>
                      <a:srgbClr val="FFFFFF"/>
                    </a:solidFill>
                  </a:tcPr>
                </a:tc>
              </a:tr>
              <a:tr h="605790">
                <a:tc>
                  <a:txBody>
                    <a:bodyPr>
                      <a:noAutofit/>
                    </a:bodyPr>
                    <a:lstStyle/>
                    <a:p>
                      <a:r>
                        <a:rPr sz="1800" b="0">
                          <a:solidFill>
                            <a:srgbClr val="26343D"/>
                          </a:solidFill>
                          <a:latin typeface="Arial"/>
                          <a:ea typeface="Arial"/>
                          <a:cs typeface="Arial"/>
                        </a:rPr>
                        <a:t>Applicability</a:t>
                      </a:r>
                    </a:p>
                  </a:txBody>
                  <a:tcPr marL="133350" marR="133350" marT="85725" marB="85725" anchor="ctr">
                    <a:solidFill>
                      <a:srgbClr val="FFFFFF"/>
                    </a:solidFill>
                  </a:tcPr>
                </a:tc>
                <a:tc>
                  <a:txBody>
                    <a:bodyPr>
                      <a:noAutofit/>
                    </a:bodyPr>
                    <a:lstStyle/>
                    <a:p>
                      <a:r>
                        <a:rPr sz="1800" b="0">
                          <a:solidFill>
                            <a:srgbClr val="26343D"/>
                          </a:solidFill>
                          <a:latin typeface="Arial"/>
                          <a:ea typeface="Arial"/>
                          <a:cs typeface="Arial"/>
                        </a:rPr>
                        <a:t>Manual judgment of a useful valid suggestion</a:t>
                      </a:r>
                    </a:p>
                  </a:txBody>
                  <a:tcPr marL="133350" marR="133350" marT="85725" marB="85725" anchor="ctr">
                    <a:solidFill>
                      <a:srgbClr val="FFFFFF"/>
                    </a:solidFill>
                  </a:tcPr>
                </a:tc>
                <a:tc>
                  <a:txBody>
                    <a:bodyPr>
                      <a:noAutofit/>
                    </a:bodyPr>
                    <a:lstStyle/>
                    <a:p>
                      <a:r>
                        <a:rPr sz="1800" b="0">
                          <a:solidFill>
                            <a:srgbClr val="26343D"/>
                          </a:solidFill>
                          <a:latin typeface="Arial"/>
                          <a:ea typeface="Arial"/>
                          <a:cs typeface="Arial"/>
                        </a:rPr>
                        <a:t>C/C++ 89.86%</a:t>
                      </a:r>
                    </a:p>
                  </a:txBody>
                  <a:tcPr marL="133350" marR="133350" marT="85725" marB="85725" anchor="ctr">
                    <a:solidFill>
                      <a:srgbClr val="FFFFFF"/>
                    </a:solidFill>
                  </a:tcPr>
                </a:tc>
              </a:tr>
              <a:tr h="605790">
                <a:tc>
                  <a:txBody>
                    <a:bodyPr>
                      <a:noAutofit/>
                    </a:bodyPr>
                    <a:lstStyle/>
                    <a:p>
                      <a:r>
                        <a:rPr sz="1800" b="0">
                          <a:solidFill>
                            <a:srgbClr val="26343D"/>
                          </a:solidFill>
                          <a:latin typeface="Arial"/>
                          <a:ea typeface="Arial"/>
                          <a:cs typeface="Arial"/>
                        </a:rPr>
                        <a:t>Test passing</a:t>
                      </a:r>
                    </a:p>
                  </a:txBody>
                  <a:tcPr marL="133350" marR="133350" marT="85725" marB="85725" anchor="ctr">
                    <a:solidFill>
                      <a:srgbClr val="FFFFFF"/>
                    </a:solidFill>
                  </a:tcPr>
                </a:tc>
                <a:tc>
                  <a:txBody>
                    <a:bodyPr>
                      <a:noAutofit/>
                    </a:bodyPr>
                    <a:lstStyle/>
                    <a:p>
                      <a:r>
                        <a:rPr sz="1800" b="0">
                          <a:solidFill>
                            <a:srgbClr val="26343D"/>
                          </a:solidFill>
                          <a:latin typeface="Arial"/>
                          <a:ea typeface="Arial"/>
                          <a:cs typeface="Arial"/>
                        </a:rPr>
                        <a:t>Candidate passes the supplied project tests</a:t>
                      </a:r>
                    </a:p>
                  </a:txBody>
                  <a:tcPr marL="133350" marR="133350" marT="85725" marB="85725" anchor="ctr">
                    <a:solidFill>
                      <a:srgbClr val="FFFFFF"/>
                    </a:solidFill>
                  </a:tcPr>
                </a:tc>
                <a:tc>
                  <a:txBody>
                    <a:bodyPr>
                      <a:noAutofit/>
                    </a:bodyPr>
                    <a:lstStyle/>
                    <a:p>
                      <a:r>
                        <a:rPr sz="1800" b="0">
                          <a:solidFill>
                            <a:srgbClr val="26343D"/>
                          </a:solidFill>
                          <a:latin typeface="Arial"/>
                          <a:ea typeface="Arial"/>
                          <a:cs typeface="Arial"/>
                        </a:rPr>
                        <a:t>Python 9,483/9,483</a:t>
                      </a:r>
                    </a:p>
                  </a:txBody>
                  <a:tcPr marL="133350" marR="133350" marT="85725" marB="85725" anchor="ctr">
                    <a:solidFill>
                      <a:srgbClr val="FFFFFF"/>
                    </a:solidFill>
                  </a:tcPr>
                </a:tc>
              </a:tr>
            </a:tbl>
          </a:graphicData>
        </a:graphic>
      </p:graphicFrame>
      <p:sp>
        <p:nvSpPr>
          <p:cNvPr id="5" name="conversion">
            <a:extLst xmlns:a="http://schemas.openxmlformats.org/drawingml/2006/main">
              <a:ext uri="{FF2B5EF4-FFF2-40B4-BE49-F238E27FC236}">
                <a16:creationId xmlns:a16="http://schemas.microsoft.com/office/drawing/2014/main" id="{BCEFB9EB-5EDB-4D46-AA0B-A06E5EAA6EBC}"/>
              </a:ext>
            </a:extLst>
          </p:cNvPr>
          <p:cNvSpPr>
            <a:spLocks xmlns:a="http://schemas.openxmlformats.org/drawingml/2006/main" noGrp="1"/>
          </p:cNvSpPr>
          <p:nvPr/>
        </p:nvSpPr>
        <p:spPr>
          <a:xfrm xmlns:a="http://schemas.openxmlformats.org/drawingml/2006/main">
            <a:off x="609600" y="49815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6B78"/>
                </a:solidFill>
                <a:latin typeface="Arial"/>
                <a:ea typeface="Arial"/>
                <a:cs typeface="Arial"/>
              </a:defRPr>
            </a:pPr>
            <a:r>
              <a:rPr sz="2400" b="1">
                <a:solidFill>
                  <a:srgbClr val="166B78"/>
                </a:solidFill>
                <a:latin typeface="Arial"/>
                <a:ea typeface="Arial"/>
                <a:cs typeface="Arial"/>
              </a:rPr>
              <a:t>Click maximum: 479.90% improvement = 5.799x speed</a:t>
            </a:r>
          </a:p>
        </p:txBody>
      </p:sp>
      <p:sp>
        <p:nvSpPr>
          <p:cNvPr id="6" name="time-reduction">
            <a:extLst xmlns:a="http://schemas.openxmlformats.org/drawingml/2006/main">
              <a:ext uri="{FF2B5EF4-FFF2-40B4-BE49-F238E27FC236}">
                <a16:creationId xmlns:a16="http://schemas.microsoft.com/office/drawing/2014/main" id="{053A02D5-B034-4D07-8972-4F31042E97E3}"/>
              </a:ext>
            </a:extLst>
          </p:cNvPr>
          <p:cNvSpPr>
            <a:spLocks xmlns:a="http://schemas.openxmlformats.org/drawingml/2006/main" noGrp="1"/>
          </p:cNvSpPr>
          <p:nvPr/>
        </p:nvSpPr>
        <p:spPr>
          <a:xfrm xmlns:a="http://schemas.openxmlformats.org/drawingml/2006/main">
            <a:off x="609600" y="5638800"/>
            <a:ext cx="10810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Equivalent runtime reduction: about 82.76% on that particular test.</a:t>
            </a:r>
          </a:p>
        </p:txBody>
      </p:sp>
    </p:spTree>
    <p:extLst>
      <p:ext uri="{BB962C8B-B14F-4D97-AF65-F5344CB8AC3E}">
        <p14:creationId xmlns:p14="http://schemas.microsoft.com/office/powerpoint/2010/main" val="17969369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34D51E1-D173-40FB-B639-D0F06A47F993}"/>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Backup: rule coverage and precision</a:t>
            </a:r>
          </a:p>
        </p:txBody>
      </p:sp>
      <p:sp>
        <p:nvSpPr>
          <p:cNvPr id="2" name="source">
            <a:extLst xmlns:a="http://schemas.openxmlformats.org/drawingml/2006/main">
              <a:ext uri="{FF2B5EF4-FFF2-40B4-BE49-F238E27FC236}">
                <a16:creationId xmlns:a16="http://schemas.microsoft.com/office/drawing/2014/main" id="{3083E406-C4EB-4A32-9084-F784D17115DB}"/>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14-16 and 30-31, Table 14. Locator experiment uses C/C++.</a:t>
            </a:r>
          </a:p>
        </p:txBody>
      </p:sp>
      <p:sp>
        <p:nvSpPr>
          <p:cNvPr id="3" name="page">
            <a:extLst xmlns:a="http://schemas.openxmlformats.org/drawingml/2006/main">
              <a:ext uri="{FF2B5EF4-FFF2-40B4-BE49-F238E27FC236}">
                <a16:creationId xmlns:a16="http://schemas.microsoft.com/office/drawing/2014/main" id="{8D53BAB5-B1B7-4E4F-A59D-8DD14E73D64F}"/>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17</a:t>
            </a:r>
          </a:p>
        </p:txBody>
      </p:sp>
      <p:graphicFrame>
        <p:nvGraphicFramePr>
          <p:cNvPr id="12" name=""/>
          <p:cNvGraphicFramePr/>
          <p:nvPr/>
        </p:nvGraphicFramePr>
        <p:xfrm>
          <a:off xmlns:a="http://schemas.openxmlformats.org/drawingml/2006/main" x="609600" y="1476375"/>
          <a:ext xmlns:a="http://schemas.openxmlformats.org/drawingml/2006/main" cx="10972800" cy="2028825"/>
        </p:xfrm>
        <a:graphic xmlns:a="http://schemas.openxmlformats.org/drawingml/2006/main">
          <a:graphicData uri="http://schemas.openxmlformats.org/drawingml/2006/table">
            <a:tbl>
              <a:tblPr/>
              <a:tblGrid>
                <a:gridCol w="5353050"/>
                <a:gridCol w="2809875"/>
                <a:gridCol w="2809875"/>
              </a:tblGrid>
              <a:tr h="676275">
                <a:tc>
                  <a:txBody>
                    <a:bodyPr>
                      <a:noAutofit/>
                    </a:bodyPr>
                    <a:lstStyle/>
                    <a:p>
                      <a:r>
                        <a:rPr sz="2100" b="1">
                          <a:solidFill>
                            <a:srgbClr val="172B3A"/>
                          </a:solidFill>
                          <a:latin typeface="Arial"/>
                          <a:ea typeface="Arial"/>
                          <a:cs typeface="Arial"/>
                        </a:rPr>
                        <a:t>Locator output</a:t>
                      </a:r>
                    </a:p>
                  </a:txBody>
                  <a:tcPr marL="133350" marR="133350" marT="85725" marB="85725" anchor="ctr">
                    <a:solidFill>
                      <a:srgbClr val="F2F5F6"/>
                    </a:solidFill>
                  </a:tcPr>
                </a:tc>
                <a:tc>
                  <a:txBody>
                    <a:bodyPr>
                      <a:noAutofit/>
                    </a:bodyPr>
                    <a:lstStyle/>
                    <a:p>
                      <a:r>
                        <a:rPr sz="2100" b="1">
                          <a:solidFill>
                            <a:srgbClr val="172B3A"/>
                          </a:solidFill>
                          <a:latin typeface="Arial"/>
                          <a:ea typeface="Arial"/>
                          <a:cs typeface="Arial"/>
                        </a:rPr>
                        <a:t>Precision</a:t>
                      </a:r>
                    </a:p>
                  </a:txBody>
                  <a:tcPr marL="133350" marR="133350" marT="85725" marB="85725" anchor="ctr">
                    <a:solidFill>
                      <a:srgbClr val="F2F5F6"/>
                    </a:solidFill>
                  </a:tcPr>
                </a:tc>
                <a:tc>
                  <a:txBody>
                    <a:bodyPr>
                      <a:noAutofit/>
                    </a:bodyPr>
                    <a:lstStyle/>
                    <a:p>
                      <a:r>
                        <a:rPr sz="2100" b="1">
                          <a:solidFill>
                            <a:srgbClr val="172B3A"/>
                          </a:solidFill>
                          <a:latin typeface="Arial"/>
                          <a:ea typeface="Arial"/>
                          <a:cs typeface="Arial"/>
                        </a:rPr>
                        <a:t>Recall</a:t>
                      </a:r>
                    </a:p>
                  </a:txBody>
                  <a:tcPr marL="133350" marR="133350" marT="85725" marB="85725" anchor="ctr">
                    <a:solidFill>
                      <a:srgbClr val="F2F5F6"/>
                    </a:solidFill>
                  </a:tcPr>
                </a:tc>
              </a:tr>
              <a:tr h="676275">
                <a:tc>
                  <a:txBody>
                    <a:bodyPr>
                      <a:noAutofit/>
                    </a:bodyPr>
                    <a:lstStyle/>
                    <a:p>
                      <a:r>
                        <a:rPr sz="2100" b="0">
                          <a:solidFill>
                            <a:srgbClr val="26343D"/>
                          </a:solidFill>
                          <a:latin typeface="Arial"/>
                          <a:ea typeface="Arial"/>
                          <a:cs typeface="Arial"/>
                        </a:rPr>
                        <a:t>Raw matches</a:t>
                      </a:r>
                    </a:p>
                  </a:txBody>
                  <a:tcPr marL="133350" marR="133350" marT="85725" marB="85725" anchor="ctr">
                    <a:solidFill>
                      <a:srgbClr val="FFFFFF"/>
                    </a:solidFill>
                  </a:tcPr>
                </a:tc>
                <a:tc>
                  <a:txBody>
                    <a:bodyPr>
                      <a:noAutofit/>
                    </a:bodyPr>
                    <a:lstStyle/>
                    <a:p>
                      <a:r>
                        <a:rPr sz="2100" b="0">
                          <a:solidFill>
                            <a:srgbClr val="26343D"/>
                          </a:solidFill>
                          <a:latin typeface="Arial"/>
                          <a:ea typeface="Arial"/>
                          <a:cs typeface="Arial"/>
                        </a:rPr>
                        <a:t>1.56%</a:t>
                      </a:r>
                    </a:p>
                  </a:txBody>
                  <a:tcPr marL="133350" marR="133350" marT="85725" marB="85725" anchor="ctr">
                    <a:solidFill>
                      <a:srgbClr val="FFFFFF"/>
                    </a:solidFill>
                  </a:tcPr>
                </a:tc>
                <a:tc>
                  <a:txBody>
                    <a:bodyPr>
                      <a:noAutofit/>
                    </a:bodyPr>
                    <a:lstStyle/>
                    <a:p>
                      <a:r>
                        <a:rPr sz="2100" b="0">
                          <a:solidFill>
                            <a:srgbClr val="26343D"/>
                          </a:solidFill>
                          <a:latin typeface="Arial"/>
                          <a:ea typeface="Arial"/>
                          <a:cs typeface="Arial"/>
                        </a:rPr>
                        <a:t>82.78%</a:t>
                      </a:r>
                    </a:p>
                  </a:txBody>
                  <a:tcPr marL="133350" marR="133350" marT="85725" marB="85725" anchor="ctr">
                    <a:solidFill>
                      <a:srgbClr val="FFFFFF"/>
                    </a:solidFill>
                  </a:tcPr>
                </a:tc>
              </a:tr>
              <a:tr h="676275">
                <a:tc>
                  <a:txBody>
                    <a:bodyPr>
                      <a:noAutofit/>
                    </a:bodyPr>
                    <a:lstStyle/>
                    <a:p>
                      <a:r>
                        <a:rPr sz="2100" b="0">
                          <a:solidFill>
                            <a:srgbClr val="26343D"/>
                          </a:solidFill>
                          <a:latin typeface="Arial"/>
                          <a:ea typeface="Arial"/>
                          <a:cs typeface="Arial"/>
                        </a:rPr>
                        <a:t>Top 25 proposals</a:t>
                      </a:r>
                    </a:p>
                  </a:txBody>
                  <a:tcPr marL="133350" marR="133350" marT="85725" marB="85725" anchor="ctr">
                    <a:solidFill>
                      <a:srgbClr val="FFFFFF"/>
                    </a:solidFill>
                  </a:tcPr>
                </a:tc>
                <a:tc>
                  <a:txBody>
                    <a:bodyPr>
                      <a:noAutofit/>
                    </a:bodyPr>
                    <a:lstStyle/>
                    <a:p>
                      <a:r>
                        <a:rPr sz="2100" b="0">
                          <a:solidFill>
                            <a:srgbClr val="26343D"/>
                          </a:solidFill>
                          <a:latin typeface="Arial"/>
                          <a:ea typeface="Arial"/>
                          <a:cs typeface="Arial"/>
                        </a:rPr>
                        <a:t>5.13%</a:t>
                      </a:r>
                    </a:p>
                  </a:txBody>
                  <a:tcPr marL="133350" marR="133350" marT="85725" marB="85725" anchor="ctr">
                    <a:solidFill>
                      <a:srgbClr val="FFFFFF"/>
                    </a:solidFill>
                  </a:tcPr>
                </a:tc>
                <a:tc>
                  <a:txBody>
                    <a:bodyPr>
                      <a:noAutofit/>
                    </a:bodyPr>
                    <a:lstStyle/>
                    <a:p>
                      <a:r>
                        <a:rPr sz="2100" b="0">
                          <a:solidFill>
                            <a:srgbClr val="26343D"/>
                          </a:solidFill>
                          <a:latin typeface="Arial"/>
                          <a:ea typeface="Arial"/>
                          <a:cs typeface="Arial"/>
                        </a:rPr>
                        <a:t>58.94%</a:t>
                      </a:r>
                    </a:p>
                  </a:txBody>
                  <a:tcPr marL="133350" marR="133350" marT="85725" marB="85725" anchor="ctr">
                    <a:solidFill>
                      <a:srgbClr val="FFFFFF"/>
                    </a:solidFill>
                  </a:tcPr>
                </a:tc>
              </a:tr>
            </a:tbl>
          </a:graphicData>
        </a:graphic>
      </p:graphicFrame>
      <p:sp>
        <p:nvSpPr>
          <p:cNvPr id="5" name="coverage-heading">
            <a:extLst xmlns:a="http://schemas.openxmlformats.org/drawingml/2006/main">
              <a:ext uri="{FF2B5EF4-FFF2-40B4-BE49-F238E27FC236}">
                <a16:creationId xmlns:a16="http://schemas.microsoft.com/office/drawing/2014/main" id="{24917306-19E0-4268-8F97-2CB4ADD9BAF9}"/>
              </a:ext>
            </a:extLst>
          </p:cNvPr>
          <p:cNvSpPr>
            <a:spLocks xmlns:a="http://schemas.openxmlformats.org/drawingml/2006/main" noGrp="1"/>
          </p:cNvSpPr>
          <p:nvPr/>
        </p:nvSpPr>
        <p:spPr>
          <a:xfrm xmlns:a="http://schemas.openxmlformats.org/drawingml/2006/main">
            <a:off x="609600" y="3810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Coverage argument</a:t>
            </a:r>
          </a:p>
        </p:txBody>
      </p:sp>
      <p:sp>
        <p:nvSpPr>
          <p:cNvPr id="6" name="coverage-body">
            <a:extLst xmlns:a="http://schemas.openxmlformats.org/drawingml/2006/main">
              <a:ext uri="{FF2B5EF4-FFF2-40B4-BE49-F238E27FC236}">
                <a16:creationId xmlns:a16="http://schemas.microsoft.com/office/drawing/2014/main" id="{18943248-3FC7-4174-9F93-AE342365126C}"/>
              </a:ext>
            </a:extLst>
          </p:cNvPr>
          <p:cNvSpPr>
            <a:spLocks xmlns:a="http://schemas.openxmlformats.org/drawingml/2006/main" noGrp="1"/>
          </p:cNvSpPr>
          <p:nvPr/>
        </p:nvSpPr>
        <p:spPr>
          <a:xfrm xmlns:a="http://schemas.openxmlformats.org/drawingml/2006/main">
            <a:off x="609600" y="4229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Under independent detection, coverage = 1 - product(1 - p_i).</a:t>
            </a:r>
          </a:p>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p_i is the detection probability of rule i.</a:t>
            </a:r>
          </a:p>
        </p:txBody>
      </p:sp>
      <p:sp>
        <p:nvSpPr>
          <p:cNvPr id="7" name="caveat-heading">
            <a:extLst xmlns:a="http://schemas.openxmlformats.org/drawingml/2006/main">
              <a:ext uri="{FF2B5EF4-FFF2-40B4-BE49-F238E27FC236}">
                <a16:creationId xmlns:a16="http://schemas.microsoft.com/office/drawing/2014/main" id="{81661A89-AED9-406E-9775-FF79B08DFA67}"/>
              </a:ext>
            </a:extLst>
          </p:cNvPr>
          <p:cNvSpPr>
            <a:spLocks xmlns:a="http://schemas.openxmlformats.org/drawingml/2006/main" noGrp="1"/>
          </p:cNvSpPr>
          <p:nvPr/>
        </p:nvSpPr>
        <p:spPr>
          <a:xfrm xmlns:a="http://schemas.openxmlformats.org/drawingml/2006/main">
            <a:off x="609600" y="5048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Assumption to question</a:t>
            </a:r>
          </a:p>
        </p:txBody>
      </p:sp>
      <p:sp>
        <p:nvSpPr>
          <p:cNvPr id="8" name="caveat-body">
            <a:extLst xmlns:a="http://schemas.openxmlformats.org/drawingml/2006/main">
              <a:ext uri="{FF2B5EF4-FFF2-40B4-BE49-F238E27FC236}">
                <a16:creationId xmlns:a16="http://schemas.microsoft.com/office/drawing/2014/main" id="{946669B7-D6E1-43BE-B5D4-542CE2E4755A}"/>
              </a:ext>
            </a:extLst>
          </p:cNvPr>
          <p:cNvSpPr>
            <a:spLocks xmlns:a="http://schemas.openxmlformats.org/drawingml/2006/main" noGrp="1"/>
          </p:cNvSpPr>
          <p:nvPr/>
        </p:nvSpPr>
        <p:spPr>
          <a:xfrm xmlns:a="http://schemas.openxmlformats.org/drawingml/2006/main">
            <a:off x="609600" y="54673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Shared models and prompts can create correlated errors. Match counts do not supply calibrated correctness confidence.</a:t>
            </a:r>
          </a:p>
        </p:txBody>
      </p:sp>
    </p:spTree>
    <p:extLst>
      <p:ext uri="{BB962C8B-B14F-4D97-AF65-F5344CB8AC3E}">
        <p14:creationId xmlns:p14="http://schemas.microsoft.com/office/powerpoint/2010/main" val="5351233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A270871-44C8-4F32-AB9C-2B2BC77A18AD}"/>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Backup: prior work and replication questions</a:t>
            </a:r>
          </a:p>
        </p:txBody>
      </p:sp>
      <p:sp>
        <p:nvSpPr>
          <p:cNvPr id="2" name="source">
            <a:extLst xmlns:a="http://schemas.openxmlformats.org/drawingml/2006/main">
              <a:ext uri="{FF2B5EF4-FFF2-40B4-BE49-F238E27FC236}">
                <a16:creationId xmlns:a16="http://schemas.microsoft.com/office/drawing/2014/main" id="{647347D2-3216-496B-8C5B-39AA706D69C3}"/>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[1] pp. 12, 18-21, 32-36, 46; [2] pp. 3-6, 14; [3] pp. 4-9, 14-17.</a:t>
            </a:r>
          </a:p>
        </p:txBody>
      </p:sp>
      <p:sp>
        <p:nvSpPr>
          <p:cNvPr id="3" name="page">
            <a:extLst xmlns:a="http://schemas.openxmlformats.org/drawingml/2006/main">
              <a:ext uri="{FF2B5EF4-FFF2-40B4-BE49-F238E27FC236}">
                <a16:creationId xmlns:a16="http://schemas.microsoft.com/office/drawing/2014/main" id="{97DE6791-5270-40AC-A29F-0CAA8ECAA1D8}"/>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18</a:t>
            </a:r>
          </a:p>
        </p:txBody>
      </p:sp>
      <p:graphicFrame>
        <p:nvGraphicFramePr>
          <p:cNvPr id="11" name=""/>
          <p:cNvGraphicFramePr/>
          <p:nvPr/>
        </p:nvGraphicFramePr>
        <p:xfrm>
          <a:off xmlns:a="http://schemas.openxmlformats.org/drawingml/2006/main" x="609600" y="1438275"/>
          <a:ext xmlns:a="http://schemas.openxmlformats.org/drawingml/2006/main" cx="10972800" cy="2400300"/>
        </p:xfrm>
        <a:graphic xmlns:a="http://schemas.openxmlformats.org/drawingml/2006/main">
          <a:graphicData uri="http://schemas.openxmlformats.org/drawingml/2006/table">
            <a:tbl>
              <a:tblPr/>
              <a:tblGrid>
                <a:gridCol w="3000375"/>
                <a:gridCol w="7972425"/>
              </a:tblGrid>
              <a:tr h="600075">
                <a:tc>
                  <a:txBody>
                    <a:bodyPr>
                      <a:noAutofit/>
                    </a:bodyPr>
                    <a:lstStyle/>
                    <a:p>
                      <a:r>
                        <a:rPr sz="1875" b="1">
                          <a:solidFill>
                            <a:srgbClr val="172B3A"/>
                          </a:solidFill>
                          <a:latin typeface="Arial"/>
                          <a:ea typeface="Arial"/>
                          <a:cs typeface="Arial"/>
                        </a:rPr>
                        <a:t>Paper</a:t>
                      </a:r>
                    </a:p>
                  </a:txBody>
                  <a:tcPr marL="133350" marR="133350" marT="85725" marB="85725" anchor="ctr">
                    <a:solidFill>
                      <a:srgbClr val="F2F5F6"/>
                    </a:solidFill>
                  </a:tcPr>
                </a:tc>
                <a:tc>
                  <a:txBody>
                    <a:bodyPr>
                      <a:noAutofit/>
                    </a:bodyPr>
                    <a:lstStyle/>
                    <a:p>
                      <a:r>
                        <a:rPr sz="1875" b="1">
                          <a:solidFill>
                            <a:srgbClr val="172B3A"/>
                          </a:solidFill>
                          <a:latin typeface="Arial"/>
                          <a:ea typeface="Arial"/>
                          <a:cs typeface="Arial"/>
                        </a:rPr>
                        <a:t>Safeguards already studied</a:t>
                      </a:r>
                    </a:p>
                  </a:txBody>
                  <a:tcPr marL="133350" marR="133350" marT="85725" marB="85725" anchor="ctr">
                    <a:solidFill>
                      <a:srgbClr val="F2F5F6"/>
                    </a:solidFill>
                  </a:tcPr>
                </a:tc>
              </a:tr>
              <a:tr h="600075">
                <a:tc>
                  <a:txBody>
                    <a:bodyPr>
                      <a:noAutofit/>
                    </a:bodyPr>
                    <a:lstStyle/>
                    <a:p>
                      <a:r>
                        <a:rPr sz="1875" b="0">
                          <a:solidFill>
                            <a:srgbClr val="26343D"/>
                          </a:solidFill>
                          <a:latin typeface="Arial"/>
                          <a:ea typeface="Arial"/>
                          <a:cs typeface="Arial"/>
                        </a:rPr>
                        <a:t>PIE [2]</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Test-based selection and reproducible performance labels</a:t>
                      </a:r>
                    </a:p>
                  </a:txBody>
                  <a:tcPr marL="133350" marR="133350" marT="85725" marB="85725" anchor="ctr">
                    <a:solidFill>
                      <a:srgbClr val="FFFFFF"/>
                    </a:solidFill>
                  </a:tcPr>
                </a:tc>
              </a:tr>
              <a:tr h="600075">
                <a:tc>
                  <a:txBody>
                    <a:bodyPr>
                      <a:noAutofit/>
                    </a:bodyPr>
                    <a:lstStyle/>
                    <a:p>
                      <a:r>
                        <a:rPr sz="1875" b="0">
                          <a:solidFill>
                            <a:srgbClr val="26343D"/>
                          </a:solidFill>
                          <a:latin typeface="Arial"/>
                          <a:ea typeface="Arial"/>
                          <a:cs typeface="Arial"/>
                        </a:rPr>
                        <a:t>COFFE journal study [3]</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Stressful inputs and input-scale variation</a:t>
                      </a:r>
                    </a:p>
                  </a:txBody>
                  <a:tcPr marL="133350" marR="133350" marT="85725" marB="85725" anchor="ctr">
                    <a:solidFill>
                      <a:srgbClr val="FFFFFF"/>
                    </a:solidFill>
                  </a:tcPr>
                </a:tc>
              </a:tr>
              <a:tr h="600075">
                <a:tc>
                  <a:txBody>
                    <a:bodyPr>
                      <a:noAutofit/>
                    </a:bodyPr>
                    <a:lstStyle/>
                    <a:p>
                      <a:r>
                        <a:rPr sz="1875" b="0">
                          <a:solidFill>
                            <a:srgbClr val="26343D"/>
                          </a:solidFill>
                          <a:latin typeface="Arial"/>
                          <a:ea typeface="Arial"/>
                          <a:cs typeface="Arial"/>
                        </a:rPr>
                        <a:t>SemOpt [1]</a:t>
                      </a:r>
                    </a:p>
                  </a:txBody>
                  <a:tcPr marL="133350" marR="133350" marT="85725" marB="85725" anchor="ctr">
                    <a:solidFill>
                      <a:srgbClr val="FFFFFF"/>
                    </a:solidFill>
                  </a:tcPr>
                </a:tc>
                <a:tc>
                  <a:txBody>
                    <a:bodyPr>
                      <a:noAutofit/>
                    </a:bodyPr>
                    <a:lstStyle/>
                    <a:p>
                      <a:r>
                        <a:rPr sz="1875" b="0">
                          <a:solidFill>
                            <a:srgbClr val="26343D"/>
                          </a:solidFill>
                          <a:latin typeface="Arial"/>
                          <a:ea typeface="Arial"/>
                          <a:cs typeface="Arial"/>
                        </a:rPr>
                        <a:t>Repeated project timing and a regression threshold</a:t>
                      </a:r>
                    </a:p>
                  </a:txBody>
                  <a:tcPr marL="133350" marR="133350" marT="85725" marB="85725" anchor="ctr">
                    <a:solidFill>
                      <a:srgbClr val="FFFFFF"/>
                    </a:solidFill>
                  </a:tcPr>
                </a:tc>
              </a:tr>
            </a:tbl>
          </a:graphicData>
        </a:graphic>
      </p:graphicFrame>
      <p:sp>
        <p:nvSpPr>
          <p:cNvPr id="5" name="reproduction-heading">
            <a:extLst xmlns:a="http://schemas.openxmlformats.org/drawingml/2006/main">
              <a:ext uri="{FF2B5EF4-FFF2-40B4-BE49-F238E27FC236}">
                <a16:creationId xmlns:a16="http://schemas.microsoft.com/office/drawing/2014/main" id="{B73AC5C5-3452-4B77-9223-733D898E9232}"/>
              </a:ext>
            </a:extLst>
          </p:cNvPr>
          <p:cNvSpPr>
            <a:spLocks xmlns:a="http://schemas.openxmlformats.org/drawingml/2006/main" noGrp="1"/>
          </p:cNvSpPr>
          <p:nvPr/>
        </p:nvSpPr>
        <p:spPr>
          <a:xfrm xmlns:a="http://schemas.openxmlformats.org/drawingml/2006/main">
            <a:off x="609600" y="43243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Replication questions</a:t>
            </a:r>
          </a:p>
        </p:txBody>
      </p:sp>
      <p:sp>
        <p:nvSpPr>
          <p:cNvPr id="6" name="reproduction-body">
            <a:extLst xmlns:a="http://schemas.openxmlformats.org/drawingml/2006/main">
              <a:ext uri="{FF2B5EF4-FFF2-40B4-BE49-F238E27FC236}">
                <a16:creationId xmlns:a16="http://schemas.microsoft.com/office/drawing/2014/main" id="{4EBEF0F5-F8E5-457B-9311-8EC5317A40CD}"/>
              </a:ext>
            </a:extLst>
          </p:cNvPr>
          <p:cNvSpPr>
            <a:spLocks xmlns:a="http://schemas.openxmlformats.org/drawingml/2006/main" noGrp="1"/>
          </p:cNvSpPr>
          <p:nvPr/>
        </p:nvSpPr>
        <p:spPr>
          <a:xfrm xmlns:a="http://schemas.openxmlformats.org/drawingml/2006/main">
            <a:off x="609600" y="4743450"/>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43D"/>
                </a:solidFill>
                <a:latin typeface="Arial"/>
                <a:ea typeface="Arial"/>
                <a:cs typeface="Arial"/>
              </a:defRPr>
            </a:pPr>
            <a:r>
              <a:rPr sz="1950" b="0">
                <a:solidFill>
                  <a:srgbClr val="26343D"/>
                </a:solidFill>
                <a:latin typeface="Arial"/>
                <a:ea typeface="Arial"/>
                <a:cs typeface="Arial"/>
              </a:rPr>
              <a:t>Confirm repair limits, pilot/task denominators, candidate accounting, and equal evaluation budgets.</a:t>
            </a:r>
          </a:p>
        </p:txBody>
      </p:sp>
      <p:sp>
        <p:nvSpPr>
          <p:cNvPr id="7" name="heldout">
            <a:extLst xmlns:a="http://schemas.openxmlformats.org/drawingml/2006/main">
              <a:ext uri="{FF2B5EF4-FFF2-40B4-BE49-F238E27FC236}">
                <a16:creationId xmlns:a16="http://schemas.microsoft.com/office/drawing/2014/main" id="{8E122DC8-0679-4F39-A5AB-A6E13D05EDB7}"/>
              </a:ext>
            </a:extLst>
          </p:cNvPr>
          <p:cNvSpPr>
            <a:spLocks xmlns:a="http://schemas.openxmlformats.org/drawingml/2006/main" noGrp="1"/>
          </p:cNvSpPr>
          <p:nvPr/>
        </p:nvSpPr>
        <p:spPr>
          <a:xfrm xmlns:a="http://schemas.openxmlformats.org/drawingml/2006/main">
            <a:off x="609600" y="56102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Keep these questions distinct from any claim that the reported results are wrong.</a:t>
            </a:r>
          </a:p>
        </p:txBody>
      </p:sp>
    </p:spTree>
    <p:extLst>
      <p:ext uri="{BB962C8B-B14F-4D97-AF65-F5344CB8AC3E}">
        <p14:creationId xmlns:p14="http://schemas.microsoft.com/office/powerpoint/2010/main" val="18612160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3BE2127A-54E2-4D7E-B71A-D37D1EFDC7C1}"/>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References and source versions</a:t>
            </a:r>
          </a:p>
        </p:txBody>
      </p:sp>
      <p:sp>
        <p:nvSpPr>
          <p:cNvPr id="2" name="source">
            <a:extLst xmlns:a="http://schemas.openxmlformats.org/drawingml/2006/main">
              <a:ext uri="{FF2B5EF4-FFF2-40B4-BE49-F238E27FC236}">
                <a16:creationId xmlns:a16="http://schemas.microsoft.com/office/drawing/2014/main" id="{CC48682B-27F9-42ED-AE26-1BC69E464E21}"/>
              </a:ext>
            </a:extLst>
          </p:cNvPr>
          <p:cNvSpPr>
            <a:spLocks xmlns:a="http://schemas.openxmlformats.org/drawingml/2006/main" noGrp="1"/>
          </p:cNvSpPr>
          <p:nvPr/>
        </p:nvSpPr>
        <p:spPr>
          <a:xfrm xmlns:a="http://schemas.openxmlformats.org/drawingml/2006/main">
            <a:off x="609600" y="6315075"/>
            <a:ext cx="1042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36C"/>
                </a:solidFill>
                <a:latin typeface="Arial"/>
                <a:ea typeface="Arial"/>
                <a:cs typeface="Arial"/>
              </a:defRPr>
            </a:pPr>
            <a:r>
              <a:rPr sz="1200" b="0">
                <a:solidFill>
                  <a:srgbClr val="53636C"/>
                </a:solidFill>
                <a:latin typeface="Arial"/>
                <a:ea typeface="Arial"/>
                <a:cs typeface="Arial"/>
              </a:rPr>
              <a:t>Page citations in this deck refer to the downloaded author PDFs.</a:t>
            </a:r>
          </a:p>
        </p:txBody>
      </p:sp>
      <p:sp>
        <p:nvSpPr>
          <p:cNvPr id="3" name="page">
            <a:extLst xmlns:a="http://schemas.openxmlformats.org/drawingml/2006/main">
              <a:ext uri="{FF2B5EF4-FFF2-40B4-BE49-F238E27FC236}">
                <a16:creationId xmlns:a16="http://schemas.microsoft.com/office/drawing/2014/main" id="{A5D9CCA8-4704-4705-A7EC-977146A4C329}"/>
              </a:ext>
            </a:extLst>
          </p:cNvPr>
          <p:cNvSpPr>
            <a:spLocks xmlns:a="http://schemas.openxmlformats.org/drawingml/2006/main" noGrp="1"/>
          </p:cNvSpPr>
          <p:nvPr/>
        </p:nvSpPr>
        <p:spPr>
          <a:xfrm xmlns:a="http://schemas.openxmlformats.org/drawingml/2006/main">
            <a:off x="11182350" y="63150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19</a:t>
            </a:r>
          </a:p>
        </p:txBody>
      </p:sp>
      <p:sp>
        <p:nvSpPr>
          <p:cNvPr id="4" name="ref-0">
            <a:extLst xmlns:a="http://schemas.openxmlformats.org/drawingml/2006/main">
              <a:ext uri="{FF2B5EF4-FFF2-40B4-BE49-F238E27FC236}">
                <a16:creationId xmlns:a16="http://schemas.microsoft.com/office/drawing/2014/main" id="{1FCE902B-99DE-45C1-A039-02A73C9B4507}"/>
              </a:ext>
            </a:extLst>
          </p:cNvPr>
          <p:cNvSpPr>
            <a:spLocks xmlns:a="http://schemas.openxmlformats.org/drawingml/2006/main" noGrp="1"/>
          </p:cNvSpPr>
          <p:nvPr/>
        </p:nvSpPr>
        <p:spPr>
          <a:xfrm xmlns:a="http://schemas.openxmlformats.org/drawingml/2006/main">
            <a:off x="609600" y="13620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2B3A"/>
                </a:solidFill>
                <a:latin typeface="Arial"/>
                <a:ea typeface="Arial"/>
                <a:cs typeface="Arial"/>
              </a:defRPr>
            </a:pPr>
            <a:r>
              <a:rPr sz="1800" b="1">
                <a:solidFill>
                  <a:srgbClr val="172B3A"/>
                </a:solidFill>
                <a:latin typeface="Arial"/>
                <a:ea typeface="Arial"/>
                <a:cs typeface="Arial"/>
              </a:rPr>
              <a:t>[1] Zhao et al. SemOpt: LLM-Driven Code Optimization via Rule-Based Analysis. ACM TOSEM, 2026.</a:t>
            </a:r>
          </a:p>
        </p:txBody>
      </p:sp>
      <p:sp>
        <p:nvSpPr>
          <p:cNvPr id="5" name="link-0">
            <a:extLst xmlns:a="http://schemas.openxmlformats.org/drawingml/2006/main">
              <a:ext uri="{FF2B5EF4-FFF2-40B4-BE49-F238E27FC236}">
                <a16:creationId xmlns:a16="http://schemas.microsoft.com/office/drawing/2014/main" id="{E505589C-AF6E-4C46-BD76-35DE8FB0E37A}"/>
              </a:ext>
            </a:extLst>
          </p:cNvPr>
          <p:cNvSpPr>
            <a:spLocks xmlns:a="http://schemas.openxmlformats.org/drawingml/2006/main" noGrp="1"/>
          </p:cNvSpPr>
          <p:nvPr/>
        </p:nvSpPr>
        <p:spPr>
          <a:xfrm xmlns:a="http://schemas.openxmlformats.org/drawingml/2006/main">
            <a:off x="609600" y="19907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66B78"/>
                </a:solidFill>
                <a:latin typeface="Arial"/>
                <a:ea typeface="Arial"/>
                <a:cs typeface="Arial"/>
              </a:defRPr>
            </a:pPr>
            <a:r>
              <a:rPr sz="1500" b="0">
                <a:solidFill>
                  <a:srgbClr val="166B78"/>
                </a:solidFill>
                <a:latin typeface="Arial"/>
                <a:ea typeface="Arial"/>
                <a:cs typeface="Arial"/>
                <a:hlinkClick xmlns:r="http://schemas.openxmlformats.org/officeDocument/2006/relationships" r:id="R960e1e4ab4834ab4"/>
              </a:rPr>
              <a:t>https://doi.org/10.1145/3820167</a:t>
            </a:r>
          </a:p>
        </p:txBody>
      </p:sp>
      <p:sp>
        <p:nvSpPr>
          <p:cNvPr id="6" name="version-0">
            <a:extLst xmlns:a="http://schemas.openxmlformats.org/drawingml/2006/main">
              <a:ext uri="{FF2B5EF4-FFF2-40B4-BE49-F238E27FC236}">
                <a16:creationId xmlns:a16="http://schemas.microsoft.com/office/drawing/2014/main" id="{A1ECFF0E-7D7F-4265-A2CB-9D2949327E08}"/>
              </a:ext>
            </a:extLst>
          </p:cNvPr>
          <p:cNvSpPr>
            <a:spLocks xmlns:a="http://schemas.openxmlformats.org/drawingml/2006/main" noGrp="1"/>
          </p:cNvSpPr>
          <p:nvPr/>
        </p:nvSpPr>
        <p:spPr>
          <a:xfrm xmlns:a="http://schemas.openxmlformats.org/drawingml/2006/main">
            <a:off x="609600" y="22860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3636C"/>
                </a:solidFill>
                <a:latin typeface="Arial"/>
                <a:ea typeface="Arial"/>
                <a:cs typeface="Arial"/>
              </a:defRPr>
            </a:pPr>
            <a:r>
              <a:rPr sz="1500" b="0">
                <a:solidFill>
                  <a:srgbClr val="53636C"/>
                </a:solidFill>
                <a:latin typeface="Arial"/>
                <a:ea typeface="Arial"/>
                <a:cs typeface="Arial"/>
              </a:rPr>
              <a:t>Author PDF: xiongyingfei.github.io/papers/TOSEM26.pdf (47 pages)</a:t>
            </a:r>
          </a:p>
        </p:txBody>
      </p:sp>
      <p:sp>
        <p:nvSpPr>
          <p:cNvPr id="7" name="ref-1">
            <a:extLst xmlns:a="http://schemas.openxmlformats.org/drawingml/2006/main">
              <a:ext uri="{FF2B5EF4-FFF2-40B4-BE49-F238E27FC236}">
                <a16:creationId xmlns:a16="http://schemas.microsoft.com/office/drawing/2014/main" id="{8835AA8C-822F-4A3D-8942-98EB983ACFC2}"/>
              </a:ext>
            </a:extLst>
          </p:cNvPr>
          <p:cNvSpPr>
            <a:spLocks xmlns:a="http://schemas.openxmlformats.org/drawingml/2006/main" noGrp="1"/>
          </p:cNvSpPr>
          <p:nvPr/>
        </p:nvSpPr>
        <p:spPr>
          <a:xfrm xmlns:a="http://schemas.openxmlformats.org/drawingml/2006/main">
            <a:off x="609600" y="2714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2B3A"/>
                </a:solidFill>
                <a:latin typeface="Arial"/>
                <a:ea typeface="Arial"/>
                <a:cs typeface="Arial"/>
              </a:defRPr>
            </a:pPr>
            <a:r>
              <a:rPr sz="1800" b="1">
                <a:solidFill>
                  <a:srgbClr val="172B3A"/>
                </a:solidFill>
                <a:latin typeface="Arial"/>
                <a:ea typeface="Arial"/>
                <a:cs typeface="Arial"/>
              </a:rPr>
              <a:t>[2] Shypula et al. Learning Performance-Improving Code Edits. ICLR, 2024.</a:t>
            </a:r>
          </a:p>
        </p:txBody>
      </p:sp>
      <p:sp>
        <p:nvSpPr>
          <p:cNvPr id="8" name="link-1">
            <a:extLst xmlns:a="http://schemas.openxmlformats.org/drawingml/2006/main">
              <a:ext uri="{FF2B5EF4-FFF2-40B4-BE49-F238E27FC236}">
                <a16:creationId xmlns:a16="http://schemas.microsoft.com/office/drawing/2014/main" id="{9F3A3812-8D87-4CE2-BAD4-22F0F0C36962}"/>
              </a:ext>
            </a:extLst>
          </p:cNvPr>
          <p:cNvSpPr>
            <a:spLocks xmlns:a="http://schemas.openxmlformats.org/drawingml/2006/main" noGrp="1"/>
          </p:cNvSpPr>
          <p:nvPr/>
        </p:nvSpPr>
        <p:spPr>
          <a:xfrm xmlns:a="http://schemas.openxmlformats.org/drawingml/2006/main">
            <a:off x="609600" y="33432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66B78"/>
                </a:solidFill>
                <a:latin typeface="Arial"/>
                <a:ea typeface="Arial"/>
                <a:cs typeface="Arial"/>
              </a:defRPr>
            </a:pPr>
            <a:r>
              <a:rPr sz="1500" b="0">
                <a:solidFill>
                  <a:srgbClr val="166B78"/>
                </a:solidFill>
                <a:latin typeface="Arial"/>
                <a:ea typeface="Arial"/>
                <a:cs typeface="Arial"/>
                <a:hlinkClick xmlns:r="http://schemas.openxmlformats.org/officeDocument/2006/relationships" r:id="R8b9b66391deb43f0"/>
              </a:rPr>
              <a:t>https://arxiv.org/pdf/2302.07867v5</a:t>
            </a:r>
          </a:p>
        </p:txBody>
      </p:sp>
      <p:sp>
        <p:nvSpPr>
          <p:cNvPr id="9" name="version-1">
            <a:extLst xmlns:a="http://schemas.openxmlformats.org/drawingml/2006/main">
              <a:ext uri="{FF2B5EF4-FFF2-40B4-BE49-F238E27FC236}">
                <a16:creationId xmlns:a16="http://schemas.microsoft.com/office/drawing/2014/main" id="{C00A7522-7EF9-4FA8-A470-68A10F5786B3}"/>
              </a:ext>
            </a:extLst>
          </p:cNvPr>
          <p:cNvSpPr>
            <a:spLocks xmlns:a="http://schemas.openxmlformats.org/drawingml/2006/main" noGrp="1"/>
          </p:cNvSpPr>
          <p:nvPr/>
        </p:nvSpPr>
        <p:spPr>
          <a:xfrm xmlns:a="http://schemas.openxmlformats.org/drawingml/2006/main">
            <a:off x="609600" y="36385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3636C"/>
                </a:solidFill>
                <a:latin typeface="Arial"/>
                <a:ea typeface="Arial"/>
                <a:cs typeface="Arial"/>
              </a:defRPr>
            </a:pPr>
            <a:r>
              <a:rPr sz="1500" b="0">
                <a:solidFill>
                  <a:srgbClr val="53636C"/>
                </a:solidFill>
                <a:latin typeface="Arial"/>
                <a:ea typeface="Arial"/>
                <a:cs typeface="Arial"/>
              </a:rPr>
              <a:t>Published-version manuscript, arXiv v5 (25 pages)</a:t>
            </a:r>
          </a:p>
        </p:txBody>
      </p:sp>
      <p:sp>
        <p:nvSpPr>
          <p:cNvPr id="10" name="ref-2">
            <a:extLst xmlns:a="http://schemas.openxmlformats.org/drawingml/2006/main">
              <a:ext uri="{FF2B5EF4-FFF2-40B4-BE49-F238E27FC236}">
                <a16:creationId xmlns:a16="http://schemas.microsoft.com/office/drawing/2014/main" id="{8BE641EB-7ED0-4B78-8E9C-C6523FC3834C}"/>
              </a:ext>
            </a:extLst>
          </p:cNvPr>
          <p:cNvSpPr>
            <a:spLocks xmlns:a="http://schemas.openxmlformats.org/drawingml/2006/main" noGrp="1"/>
          </p:cNvSpPr>
          <p:nvPr/>
        </p:nvSpPr>
        <p:spPr>
          <a:xfrm xmlns:a="http://schemas.openxmlformats.org/drawingml/2006/main">
            <a:off x="609600" y="40671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2B3A"/>
                </a:solidFill>
                <a:latin typeface="Arial"/>
                <a:ea typeface="Arial"/>
                <a:cs typeface="Arial"/>
              </a:defRPr>
            </a:pPr>
            <a:r>
              <a:rPr sz="1800" b="1">
                <a:solidFill>
                  <a:srgbClr val="172B3A"/>
                </a:solidFill>
                <a:latin typeface="Arial"/>
                <a:ea typeface="Arial"/>
                <a:cs typeface="Arial"/>
              </a:rPr>
              <a:t>[3] Peng et al. On the Time Efficiency of Code Generated and Optimized by Large Language Models. IEEE TSE, 2026.</a:t>
            </a:r>
          </a:p>
        </p:txBody>
      </p:sp>
      <p:sp>
        <p:nvSpPr>
          <p:cNvPr id="11" name="link-2">
            <a:extLst xmlns:a="http://schemas.openxmlformats.org/drawingml/2006/main">
              <a:ext uri="{FF2B5EF4-FFF2-40B4-BE49-F238E27FC236}">
                <a16:creationId xmlns:a16="http://schemas.microsoft.com/office/drawing/2014/main" id="{5282CCA2-31DF-455E-8C95-B38BC162DE43}"/>
              </a:ext>
            </a:extLst>
          </p:cNvPr>
          <p:cNvSpPr>
            <a:spLocks xmlns:a="http://schemas.openxmlformats.org/drawingml/2006/main" noGrp="1"/>
          </p:cNvSpPr>
          <p:nvPr/>
        </p:nvSpPr>
        <p:spPr>
          <a:xfrm xmlns:a="http://schemas.openxmlformats.org/drawingml/2006/main">
            <a:off x="609600" y="46958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66B78"/>
                </a:solidFill>
                <a:latin typeface="Arial"/>
                <a:ea typeface="Arial"/>
                <a:cs typeface="Arial"/>
              </a:defRPr>
            </a:pPr>
            <a:r>
              <a:rPr sz="1500" b="0">
                <a:solidFill>
                  <a:srgbClr val="166B78"/>
                </a:solidFill>
                <a:latin typeface="Arial"/>
                <a:ea typeface="Arial"/>
                <a:cs typeface="Arial"/>
                <a:hlinkClick xmlns:r="http://schemas.openxmlformats.org/officeDocument/2006/relationships" r:id="Rff5f0edc4c3e4956"/>
              </a:rPr>
              <a:t>https://doi.org/10.1109/TSE.2026.3709872</a:t>
            </a:r>
          </a:p>
        </p:txBody>
      </p:sp>
      <p:sp>
        <p:nvSpPr>
          <p:cNvPr id="12" name="version-2">
            <a:extLst xmlns:a="http://schemas.openxmlformats.org/drawingml/2006/main">
              <a:ext uri="{FF2B5EF4-FFF2-40B4-BE49-F238E27FC236}">
                <a16:creationId xmlns:a16="http://schemas.microsoft.com/office/drawing/2014/main" id="{C7131527-8AE9-44C8-A99C-8EFB5EA72F0C}"/>
              </a:ext>
            </a:extLst>
          </p:cNvPr>
          <p:cNvSpPr>
            <a:spLocks xmlns:a="http://schemas.openxmlformats.org/drawingml/2006/main" noGrp="1"/>
          </p:cNvSpPr>
          <p:nvPr/>
        </p:nvSpPr>
        <p:spPr>
          <a:xfrm xmlns:a="http://schemas.openxmlformats.org/drawingml/2006/main">
            <a:off x="609600" y="49911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3636C"/>
                </a:solidFill>
                <a:latin typeface="Arial"/>
                <a:ea typeface="Arial"/>
                <a:cs typeface="Arial"/>
              </a:defRPr>
            </a:pPr>
            <a:r>
              <a:rPr sz="1500" b="0">
                <a:solidFill>
                  <a:srgbClr val="53636C"/>
                </a:solidFill>
                <a:latin typeface="Arial"/>
                <a:ea typeface="Arial"/>
                <a:cs typeface="Arial"/>
              </a:rPr>
              <a:t>Author PDF: timm.fyi/26coffe.pdf (23 pages)</a:t>
            </a:r>
          </a:p>
        </p:txBody>
      </p:sp>
      <p:sp>
        <p:nvSpPr>
          <p:cNvPr id="13" name="artifact-label">
            <a:extLst xmlns:a="http://schemas.openxmlformats.org/drawingml/2006/main">
              <a:ext uri="{FF2B5EF4-FFF2-40B4-BE49-F238E27FC236}">
                <a16:creationId xmlns:a16="http://schemas.microsoft.com/office/drawing/2014/main" id="{1CD237B3-3312-498B-AEEE-17A268AB6977}"/>
              </a:ext>
            </a:extLst>
          </p:cNvPr>
          <p:cNvSpPr>
            <a:spLocks xmlns:a="http://schemas.openxmlformats.org/drawingml/2006/main" noGrp="1"/>
          </p:cNvSpPr>
          <p:nvPr/>
        </p:nvSpPr>
        <p:spPr>
          <a:xfrm xmlns:a="http://schemas.openxmlformats.org/drawingml/2006/main">
            <a:off x="609600" y="5629275"/>
            <a:ext cx="4038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SemOpt replication package</a:t>
            </a:r>
          </a:p>
        </p:txBody>
      </p:sp>
      <p:sp>
        <p:nvSpPr>
          <p:cNvPr id="14" name="artifact-url">
            <a:extLst xmlns:a="http://schemas.openxmlformats.org/drawingml/2006/main">
              <a:ext uri="{FF2B5EF4-FFF2-40B4-BE49-F238E27FC236}">
                <a16:creationId xmlns:a16="http://schemas.microsoft.com/office/drawing/2014/main" id="{66E9623A-7407-4BCC-AEF2-700DF655C3C2}"/>
              </a:ext>
            </a:extLst>
          </p:cNvPr>
          <p:cNvSpPr>
            <a:spLocks xmlns:a="http://schemas.openxmlformats.org/drawingml/2006/main" noGrp="1"/>
          </p:cNvSpPr>
          <p:nvPr/>
        </p:nvSpPr>
        <p:spPr>
          <a:xfrm xmlns:a="http://schemas.openxmlformats.org/drawingml/2006/main">
            <a:off x="4457700" y="5638800"/>
            <a:ext cx="712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66B78"/>
                </a:solidFill>
                <a:latin typeface="Arial"/>
                <a:ea typeface="Arial"/>
                <a:cs typeface="Arial"/>
              </a:defRPr>
            </a:pPr>
            <a:r>
              <a:rPr sz="1575" b="0">
                <a:solidFill>
                  <a:srgbClr val="166B78"/>
                </a:solidFill>
                <a:latin typeface="Arial"/>
                <a:ea typeface="Arial"/>
                <a:cs typeface="Arial"/>
                <a:hlinkClick xmlns:r="http://schemas.openxmlformats.org/officeDocument/2006/relationships" r:id="Re05bf10d5a1c4020"/>
              </a:rPr>
              <a:t>https://figshare.com/s/0391db49a3620ed53a1f</a:t>
            </a:r>
          </a:p>
        </p:txBody>
      </p:sp>
    </p:spTree>
    <p:extLst>
      <p:ext uri="{BB962C8B-B14F-4D97-AF65-F5344CB8AC3E}">
        <p14:creationId xmlns:p14="http://schemas.microsoft.com/office/powerpoint/2010/main" val="659411116"/>
      </p:ext>
    </p:extLst>
  </p:cSld>
</p:sld>
</file>

<file path=ppt/theme/theme1.xml><?xml version="1.0" encoding="utf-8"?>
<a:theme xmlns:a="http://schemas.openxmlformats.org/drawingml/2006/main" name="ChatGPT">
  <a:themeElements>
    <a:clrScheme name="Academic">
      <a:dk1>
        <a:srgbClr val="000000"/>
      </a:dk1>
      <a:lt1>
        <a:srgbClr val="FFFFFF"/>
      </a:lt1>
      <a:dk2>
        <a:srgbClr val="172B3A"/>
      </a:dk2>
      <a:lt2>
        <a:srgbClr val="F2F5F6"/>
      </a:lt2>
      <a:accent1>
        <a:srgbClr val="166B78"/>
      </a:accent1>
      <a:accent2>
        <a:srgbClr val="172B3A"/>
      </a:accent2>
      <a:accent3>
        <a:srgbClr val="9CA9B0"/>
      </a:accent3>
      <a:accent4>
        <a:srgbClr val="647A88"/>
      </a:accent4>
      <a:accent5>
        <a:srgbClr val="355769"/>
      </a:accent5>
      <a:accent6>
        <a:srgbClr val="74858E"/>
      </a:accent6>
      <a:hlink>
        <a:srgbClr val="166B78"/>
      </a:hlink>
      <a:folHlink>
        <a:srgbClr val="166B78"/>
      </a:folHlink>
    </a:clrScheme>
    <a:fontScheme name="Office">
      <a:majorFont>
        <a:latin typeface="Calibri Light"/>
        <a:ea typeface="Calibri Light"/>
        <a:cs typeface="Calibri Light"/>
      </a:majorFont>
      <a:minorFont>
        <a:latin typeface="Calibri"/>
        <a:ea typeface="Calibri"/>
        <a:cs typeface="Calibri"/>
      </a:minorFont>
    </a:fontScheme>
    <a:fmtScheme name="Academ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2026-10-06T06:47:16.4390000Z</dcterms:created>
  <dcterms:modified xsi:type="dcterms:W3CDTF">2026-10-06T06:47:16.4390000Z</dcterms:modified>
</coreProperties>
</file>